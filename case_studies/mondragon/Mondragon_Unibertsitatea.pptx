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8" d="100"/>
          <a:sy n="128" d="100"/>
        </p:scale>
        <p:origin x="168" y="-6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itor BERNAL" userId="c802b195-92b9-4ef7-bac0-e9c1cb4e894b" providerId="ADAL" clId="{7A4A75A7-AF09-4743-9C36-3F116DAB9A6D}"/>
    <pc:docChg chg="undo custSel modSld">
      <pc:chgData name="Aitor BERNAL" userId="c802b195-92b9-4ef7-bac0-e9c1cb4e894b" providerId="ADAL" clId="{7A4A75A7-AF09-4743-9C36-3F116DAB9A6D}" dt="2025-11-24T21:40:09.404" v="72" actId="20577"/>
      <pc:docMkLst>
        <pc:docMk/>
      </pc:docMkLst>
      <pc:sldChg chg="modSp mod">
        <pc:chgData name="Aitor BERNAL" userId="c802b195-92b9-4ef7-bac0-e9c1cb4e894b" providerId="ADAL" clId="{7A4A75A7-AF09-4743-9C36-3F116DAB9A6D}" dt="2025-11-24T21:16:00.556" v="58" actId="20577"/>
        <pc:sldMkLst>
          <pc:docMk/>
          <pc:sldMk cId="0" sldId="256"/>
        </pc:sldMkLst>
        <pc:spChg chg="mod">
          <ac:chgData name="Aitor BERNAL" userId="c802b195-92b9-4ef7-bac0-e9c1cb4e894b" providerId="ADAL" clId="{7A4A75A7-AF09-4743-9C36-3F116DAB9A6D}" dt="2025-11-24T21:16:00.556" v="58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Aitor BERNAL" userId="c802b195-92b9-4ef7-bac0-e9c1cb4e894b" providerId="ADAL" clId="{7A4A75A7-AF09-4743-9C36-3F116DAB9A6D}" dt="2025-11-24T21:40:09.404" v="72" actId="20577"/>
        <pc:sldMkLst>
          <pc:docMk/>
          <pc:sldMk cId="0" sldId="257"/>
        </pc:sldMkLst>
        <pc:spChg chg="mod">
          <ac:chgData name="Aitor BERNAL" userId="c802b195-92b9-4ef7-bac0-e9c1cb4e894b" providerId="ADAL" clId="{7A4A75A7-AF09-4743-9C36-3F116DAB9A6D}" dt="2025-11-24T21:40:09.404" v="72" actId="20577"/>
          <ac:spMkLst>
            <pc:docMk/>
            <pc:sldMk cId="0" sldId="257"/>
            <ac:spMk id="2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EAEC1-4637-43C0-B7BE-ED995A468212}" type="datetimeFigureOut">
              <a:rPr lang="es-ES" smtClean="0"/>
              <a:t>24/11/2025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EF3B4C-74A9-4EB4-9F92-F3FB1211C1A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86361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EF3B4C-74A9-4EB4-9F92-F3FB1211C1A1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32457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B3A57"/>
                </a:solidFill>
                <a:latin typeface="Georgia"/>
              </a:defRPr>
            </a:pPr>
            <a:r>
              <a:t>Mondragon Unibertsitatea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67E50"/>
                </a:solidFill>
              </a:defRPr>
            </a:pPr>
            <a:r>
              <a:t>Executive Summary — Venta de Participación Mayoritaria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32913"/>
            <a:ext cx="4754880" cy="938837"/>
          </a:xfrm>
          <a:prstGeom prst="rect">
            <a:avLst/>
          </a:prstGeom>
          <a:solidFill>
            <a:srgbClr val="F8F9FA"/>
          </a:solidFill>
          <a:ln>
            <a:solidFill>
              <a:srgbClr val="E67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035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A57"/>
                </a:solidFill>
              </a:defRPr>
            </a:pPr>
            <a:r>
              <a:rPr dirty="0"/>
              <a:t>¿</a:t>
            </a:r>
            <a:r>
              <a:rPr dirty="0" err="1"/>
              <a:t>Qué</a:t>
            </a:r>
            <a:r>
              <a:rPr dirty="0"/>
              <a:t> es Mondragon </a:t>
            </a:r>
            <a:r>
              <a:rPr dirty="0" err="1"/>
              <a:t>Unibertsitatea</a:t>
            </a:r>
            <a:r>
              <a:rPr dirty="0"/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48121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C3E50"/>
                </a:solidFill>
              </a:defRPr>
            </a:pPr>
            <a:r>
              <a:rPr dirty="0"/>
              <a:t>• Universidad </a:t>
            </a:r>
            <a:r>
              <a:rPr dirty="0" err="1"/>
              <a:t>privada</a:t>
            </a:r>
            <a:r>
              <a:rPr dirty="0"/>
              <a:t> </a:t>
            </a:r>
            <a:r>
              <a:rPr dirty="0" err="1"/>
              <a:t>cooperativa</a:t>
            </a:r>
            <a:r>
              <a:rPr dirty="0"/>
              <a:t> (60+ </a:t>
            </a:r>
            <a:r>
              <a:rPr dirty="0" err="1"/>
              <a:t>años</a:t>
            </a:r>
            <a:r>
              <a:rPr dirty="0"/>
              <a:t>)</a:t>
            </a:r>
            <a:br>
              <a:rPr dirty="0"/>
            </a:br>
            <a:r>
              <a:rPr dirty="0"/>
              <a:t>• </a:t>
            </a:r>
            <a:r>
              <a:rPr dirty="0" err="1"/>
              <a:t>Especialización</a:t>
            </a:r>
            <a:r>
              <a:rPr dirty="0"/>
              <a:t> STEM (</a:t>
            </a:r>
            <a:r>
              <a:rPr dirty="0" err="1"/>
              <a:t>ingeniería</a:t>
            </a:r>
            <a:r>
              <a:rPr dirty="0"/>
              <a:t>, </a:t>
            </a:r>
            <a:r>
              <a:rPr dirty="0" err="1"/>
              <a:t>tecnología</a:t>
            </a:r>
            <a:r>
              <a:rPr dirty="0"/>
              <a:t>)</a:t>
            </a:r>
            <a:br>
              <a:rPr dirty="0"/>
            </a:br>
            <a:r>
              <a:rPr dirty="0"/>
              <a:t>• </a:t>
            </a:r>
            <a:r>
              <a:rPr dirty="0" err="1"/>
              <a:t>Empleabilidad</a:t>
            </a:r>
            <a:r>
              <a:rPr dirty="0"/>
              <a:t> &gt;90%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36882"/>
            <a:ext cx="4754880" cy="640080"/>
          </a:xfrm>
          <a:prstGeom prst="rect">
            <a:avLst/>
          </a:prstGeom>
          <a:solidFill>
            <a:srgbClr val="1B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78260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Transacción Propuesta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11202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FFFFFF"/>
                </a:solidFill>
              </a:defRPr>
            </a:pPr>
            <a:r>
              <a:rPr dirty="0"/>
              <a:t>Venta de </a:t>
            </a:r>
            <a:r>
              <a:rPr dirty="0" err="1"/>
              <a:t>participación</a:t>
            </a:r>
            <a:r>
              <a:rPr dirty="0"/>
              <a:t> </a:t>
            </a:r>
            <a:r>
              <a:rPr dirty="0" err="1"/>
              <a:t>mayoritaria</a:t>
            </a:r>
            <a:r>
              <a:rPr dirty="0"/>
              <a:t> (&gt;50%)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76384"/>
            <a:ext cx="4663440" cy="777240"/>
          </a:xfrm>
          <a:prstGeom prst="rect">
            <a:avLst/>
          </a:prstGeom>
          <a:solidFill>
            <a:srgbClr val="F8F9FA"/>
          </a:solidFill>
          <a:ln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530106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A57"/>
                </a:solidFill>
              </a:defRPr>
            </a:pPr>
            <a:r>
              <a:rPr dirty="0"/>
              <a:t>Equity 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6404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C3E50"/>
                </a:solidFill>
              </a:defRPr>
            </a:pPr>
            <a:r>
              <a:rPr dirty="0"/>
              <a:t>• Marca </a:t>
            </a:r>
            <a:r>
              <a:rPr dirty="0" err="1"/>
              <a:t>consolidada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ingeniería</a:t>
            </a:r>
            <a:br>
              <a:rPr dirty="0"/>
            </a:br>
            <a:r>
              <a:rPr dirty="0"/>
              <a:t>• Modelo asset-light, </a:t>
            </a:r>
            <a:r>
              <a:rPr dirty="0" err="1"/>
              <a:t>márgenes</a:t>
            </a:r>
            <a:r>
              <a:rPr dirty="0"/>
              <a:t> </a:t>
            </a:r>
            <a:r>
              <a:rPr dirty="0" err="1"/>
              <a:t>escalables</a:t>
            </a:r>
            <a:br>
              <a:rPr dirty="0"/>
            </a:br>
            <a:r>
              <a:rPr dirty="0"/>
              <a:t>•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digitalización</a:t>
            </a:r>
            <a:r>
              <a:rPr dirty="0"/>
              <a:t> e </a:t>
            </a:r>
            <a:r>
              <a:rPr dirty="0" err="1"/>
              <a:t>internacionalización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5486400" y="124150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7"/>
                </a:solidFill>
              </a:defRPr>
            </a:pPr>
            <a:r>
              <a:rPr dirty="0"/>
              <a:t>Current Performance (FY2024)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1607263"/>
            <a:ext cx="3200400" cy="640080"/>
          </a:xfrm>
          <a:prstGeom prst="rect">
            <a:avLst/>
          </a:prstGeom>
          <a:solidFill>
            <a:srgbClr val="1B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77840" y="163291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€19.6M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1979269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rPr dirty="0"/>
              <a:t>Revenue (</a:t>
            </a:r>
            <a:r>
              <a:rPr dirty="0" err="1"/>
              <a:t>cooperativa</a:t>
            </a:r>
            <a:r>
              <a:rPr dirty="0"/>
              <a:t>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338783"/>
            <a:ext cx="3200400" cy="6400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577840" y="234956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€89k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703355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rPr dirty="0"/>
              <a:t>EBITDA (</a:t>
            </a:r>
            <a:r>
              <a:rPr dirty="0" err="1"/>
              <a:t>margen</a:t>
            </a:r>
            <a:r>
              <a:rPr dirty="0"/>
              <a:t> 0.45%)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3070303"/>
            <a:ext cx="3200400" cy="640080"/>
          </a:xfrm>
          <a:prstGeom prst="rect">
            <a:avLst/>
          </a:prstGeom>
          <a:solidFill>
            <a:srgbClr val="F8F9FA"/>
          </a:solidFill>
          <a:ln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77840" y="3118255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8A745"/>
                </a:solidFill>
              </a:defRPr>
            </a:pPr>
            <a:r>
              <a:rPr lang="es-ES" dirty="0"/>
              <a:t>58,2x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5577840" y="3454351"/>
            <a:ext cx="3017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C757D"/>
                </a:solidFill>
              </a:defRPr>
            </a:pPr>
            <a:r>
              <a:t>EBITDA Growth Potential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3816691"/>
            <a:ext cx="3200400" cy="541577"/>
          </a:xfrm>
          <a:prstGeom prst="rect">
            <a:avLst/>
          </a:prstGeom>
          <a:solidFill>
            <a:srgbClr val="FFF8E1"/>
          </a:solidFill>
          <a:ln w="25400">
            <a:solidFill>
              <a:srgbClr val="E67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577840" y="3874975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67E50"/>
                </a:solidFill>
              </a:defRPr>
            </a:pPr>
            <a:r>
              <a:t>€9-12M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076143"/>
            <a:ext cx="3017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</a:defRPr>
            </a:pPr>
            <a:r>
              <a:t>Valoración Entry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937760"/>
            <a:ext cx="8229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57D"/>
                </a:solidFill>
              </a:defRPr>
            </a:pPr>
            <a:r>
              <a:t>Mondragon Unibertsitatea — 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5834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B3A57"/>
                </a:solidFill>
                <a:latin typeface="Georgia"/>
              </a:defRPr>
            </a:pPr>
            <a:r>
              <a:rPr dirty="0"/>
              <a:t>Growth Drivers &amp; Revenue Build-Up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77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67E50"/>
                </a:solidFill>
              </a:defRPr>
            </a:pPr>
            <a:r>
              <a:rPr dirty="0"/>
              <a:t>€19.6M → €29.5M (+50% Growth) | FY2024 → FY2029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90912"/>
            <a:ext cx="8229600" cy="274320"/>
          </a:xfrm>
          <a:prstGeom prst="rect">
            <a:avLst/>
          </a:prstGeom>
          <a:solidFill>
            <a:srgbClr val="E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92027"/>
            <a:ext cx="8046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rPr dirty="0"/>
              <a:t>Revenue Bridge: FY2024 → FY2029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02392"/>
            <a:ext cx="1463040" cy="59436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166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€19.6M</a:t>
            </a:r>
            <a:br/>
            <a:r>
              <a:t>FY2024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048112"/>
            <a:ext cx="1280160" cy="5486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48840" y="207554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+€7.7M</a:t>
            </a:r>
            <a:br/>
            <a:r>
              <a:t>Base Growth</a:t>
            </a:r>
            <a:br/>
            <a:r>
              <a:t>(volume+pricing)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139552"/>
            <a:ext cx="100584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11880" y="211836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dirty="0"/>
              <a:t>+€0.4M</a:t>
            </a:r>
            <a:br>
              <a:rPr dirty="0"/>
            </a:br>
            <a:r>
              <a:rPr dirty="0"/>
              <a:t>Online</a:t>
            </a:r>
            <a:br>
              <a:rPr dirty="0"/>
            </a:br>
            <a:r>
              <a:rPr dirty="0"/>
              <a:t>Expansion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2139552"/>
            <a:ext cx="100584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0600" y="2125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dirty="0"/>
              <a:t>+€0.4M</a:t>
            </a:r>
            <a:br>
              <a:rPr dirty="0"/>
            </a:br>
            <a:r>
              <a:rPr dirty="0"/>
              <a:t>Intl.</a:t>
            </a:r>
            <a:br>
              <a:rPr dirty="0"/>
            </a:br>
            <a:r>
              <a:rPr dirty="0"/>
              <a:t>Premium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139552"/>
            <a:ext cx="100584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89320" y="21406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dirty="0"/>
              <a:t>+€1.2M</a:t>
            </a:r>
            <a:br>
              <a:rPr dirty="0"/>
            </a:br>
            <a:r>
              <a:rPr dirty="0"/>
              <a:t>Corporate</a:t>
            </a:r>
            <a:br>
              <a:rPr dirty="0"/>
            </a:br>
            <a:r>
              <a:rPr dirty="0"/>
              <a:t>B2B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2002392"/>
            <a:ext cx="1554480" cy="594360"/>
          </a:xfrm>
          <a:prstGeom prst="rect">
            <a:avLst/>
          </a:prstGeom>
          <a:solidFill>
            <a:srgbClr val="E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78040" y="211494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dirty="0"/>
              <a:t>€29.5M</a:t>
            </a:r>
            <a:br>
              <a:rPr dirty="0"/>
            </a:br>
            <a:r>
              <a:rPr dirty="0"/>
              <a:t>FY2029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49886"/>
            <a:ext cx="4114800" cy="1539232"/>
          </a:xfrm>
          <a:prstGeom prst="rect">
            <a:avLst/>
          </a:prstGeom>
          <a:solidFill>
            <a:srgbClr val="F8F9FA"/>
          </a:solidFill>
          <a:ln>
            <a:solidFill>
              <a:srgbClr val="E67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2892258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A57"/>
                </a:solidFill>
              </a:defRPr>
            </a:pPr>
            <a:r>
              <a:t>1. Base Revenue Growth (+39%)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3684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C3E50"/>
                </a:solidFill>
              </a:defRPr>
            </a:pPr>
            <a:r>
              <a:rPr dirty="0"/>
              <a:t>VOLUME:</a:t>
            </a:r>
            <a:br>
              <a:rPr dirty="0"/>
            </a:br>
            <a:r>
              <a:rPr dirty="0"/>
              <a:t>• </a:t>
            </a:r>
            <a:r>
              <a:rPr dirty="0" err="1"/>
              <a:t>Presencial</a:t>
            </a:r>
            <a:r>
              <a:rPr dirty="0"/>
              <a:t> students growth </a:t>
            </a:r>
            <a:r>
              <a:rPr dirty="0" err="1"/>
              <a:t>moderado</a:t>
            </a:r>
            <a:br>
              <a:rPr dirty="0"/>
            </a:br>
            <a:r>
              <a:rPr dirty="0"/>
              <a:t>• </a:t>
            </a:r>
            <a:r>
              <a:rPr dirty="0" err="1"/>
              <a:t>Matrícula</a:t>
            </a:r>
            <a:r>
              <a:rPr dirty="0"/>
              <a:t> </a:t>
            </a:r>
            <a:r>
              <a:rPr dirty="0" err="1"/>
              <a:t>estable</a:t>
            </a:r>
            <a:r>
              <a:rPr dirty="0"/>
              <a:t> con </a:t>
            </a:r>
            <a:r>
              <a:rPr dirty="0" err="1"/>
              <a:t>mejoras</a:t>
            </a:r>
            <a:r>
              <a:rPr dirty="0"/>
              <a:t> </a:t>
            </a:r>
            <a:r>
              <a:rPr dirty="0" err="1"/>
              <a:t>operativas</a:t>
            </a:r>
            <a:br>
              <a:rPr dirty="0"/>
            </a:br>
            <a:br>
              <a:rPr dirty="0"/>
            </a:br>
            <a:r>
              <a:rPr dirty="0"/>
              <a:t>PRICING:</a:t>
            </a:r>
            <a:br>
              <a:rPr dirty="0"/>
            </a:br>
            <a:r>
              <a:rPr dirty="0"/>
              <a:t>• Tuition increase: mix </a:t>
            </a:r>
            <a:r>
              <a:rPr dirty="0" err="1"/>
              <a:t>más</a:t>
            </a:r>
            <a:r>
              <a:rPr dirty="0"/>
              <a:t> premium (</a:t>
            </a:r>
            <a:r>
              <a:rPr dirty="0" err="1"/>
              <a:t>internacional</a:t>
            </a:r>
            <a:r>
              <a:rPr dirty="0"/>
              <a:t> +15%)</a:t>
            </a:r>
            <a:br>
              <a:rPr dirty="0"/>
            </a:br>
            <a:r>
              <a:rPr dirty="0"/>
              <a:t>• </a:t>
            </a:r>
            <a:r>
              <a:rPr dirty="0" err="1"/>
              <a:t>Mejora</a:t>
            </a:r>
            <a:r>
              <a:rPr dirty="0"/>
              <a:t> pricing power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calidad</a:t>
            </a:r>
            <a:r>
              <a:rPr dirty="0"/>
              <a:t> y </a:t>
            </a:r>
            <a:r>
              <a:rPr dirty="0" err="1"/>
              <a:t>empleabilidad</a:t>
            </a:r>
            <a:endParaRPr dirty="0"/>
          </a:p>
        </p:txBody>
      </p:sp>
      <p:sp>
        <p:nvSpPr>
          <p:cNvPr id="21" name="Rectangle 20"/>
          <p:cNvSpPr/>
          <p:nvPr/>
        </p:nvSpPr>
        <p:spPr>
          <a:xfrm>
            <a:off x="4663440" y="2871071"/>
            <a:ext cx="4023360" cy="1518047"/>
          </a:xfrm>
          <a:prstGeom prst="rect">
            <a:avLst/>
          </a:prstGeom>
          <a:solidFill>
            <a:srgbClr val="1B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28402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rPr dirty="0"/>
              <a:t>2. New Revenue Streams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062498"/>
            <a:ext cx="384048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rPr dirty="0"/>
              <a:t>ONLINE EXPANSION:</a:t>
            </a:r>
            <a:br>
              <a:rPr dirty="0"/>
            </a:br>
            <a:r>
              <a:rPr dirty="0"/>
              <a:t>• </a:t>
            </a:r>
            <a:r>
              <a:rPr lang="es-ES" dirty="0"/>
              <a:t>+</a:t>
            </a:r>
            <a:r>
              <a:rPr dirty="0"/>
              <a:t> 80 </a:t>
            </a:r>
            <a:r>
              <a:rPr dirty="0" err="1"/>
              <a:t>estudiantes</a:t>
            </a:r>
            <a:r>
              <a:rPr dirty="0"/>
              <a:t> @ 4,200</a:t>
            </a:r>
            <a:r>
              <a:rPr lang="es-ES" dirty="0"/>
              <a:t> €</a:t>
            </a:r>
            <a:r>
              <a:rPr dirty="0"/>
              <a:t>/</a:t>
            </a:r>
            <a:r>
              <a:rPr dirty="0" err="1"/>
              <a:t>año</a:t>
            </a:r>
            <a:br>
              <a:rPr dirty="0"/>
            </a:br>
            <a:r>
              <a:rPr dirty="0"/>
              <a:t>• </a:t>
            </a:r>
            <a:r>
              <a:rPr dirty="0" err="1"/>
              <a:t>Margen</a:t>
            </a:r>
            <a:r>
              <a:rPr dirty="0"/>
              <a:t> 70% (bajo CAPEX)</a:t>
            </a:r>
            <a:br>
              <a:rPr dirty="0"/>
            </a:br>
            <a:br>
              <a:rPr dirty="0"/>
            </a:br>
            <a:r>
              <a:rPr dirty="0"/>
              <a:t>CORPORATE B2B:</a:t>
            </a:r>
            <a:br>
              <a:rPr dirty="0"/>
            </a:br>
            <a:r>
              <a:rPr dirty="0"/>
              <a:t>• </a:t>
            </a:r>
            <a:r>
              <a:rPr lang="es-ES" dirty="0"/>
              <a:t> +</a:t>
            </a:r>
            <a:r>
              <a:rPr dirty="0"/>
              <a:t> 1.2M</a:t>
            </a:r>
            <a:r>
              <a:rPr lang="es-ES" dirty="0"/>
              <a:t> €</a:t>
            </a:r>
            <a:r>
              <a:rPr dirty="0"/>
              <a:t> executive education</a:t>
            </a:r>
            <a:br>
              <a:rPr dirty="0"/>
            </a:br>
            <a:r>
              <a:rPr dirty="0"/>
              <a:t>• Partnership Grupo Mondragón (</a:t>
            </a:r>
            <a:r>
              <a:rPr dirty="0" err="1"/>
              <a:t>ventaja</a:t>
            </a:r>
            <a:r>
              <a:rPr dirty="0"/>
              <a:t> </a:t>
            </a:r>
            <a:r>
              <a:rPr dirty="0" err="1"/>
              <a:t>única</a:t>
            </a:r>
            <a:r>
              <a:rPr dirty="0"/>
              <a:t>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79444"/>
            <a:ext cx="8229600" cy="457200"/>
          </a:xfrm>
          <a:prstGeom prst="rect">
            <a:avLst/>
          </a:prstGeom>
          <a:solidFill>
            <a:srgbClr val="FFF3E0"/>
          </a:solidFill>
          <a:ln w="25400">
            <a:solidFill>
              <a:srgbClr val="E67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567464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C3E50"/>
                </a:solidFill>
              </a:defRPr>
            </a:pPr>
            <a:r>
              <a:rPr dirty="0"/>
              <a:t>Total Revenue Growth: +€9.9M (+50%) | CAGR </a:t>
            </a:r>
            <a:r>
              <a:rPr lang="es-ES"/>
              <a:t>7</a:t>
            </a:r>
            <a:r>
              <a:t>% </a:t>
            </a:r>
            <a:r>
              <a:rPr dirty="0"/>
              <a:t>| Key: </a:t>
            </a:r>
            <a:r>
              <a:rPr dirty="0" err="1"/>
              <a:t>diversificación</a:t>
            </a:r>
            <a:r>
              <a:rPr dirty="0"/>
              <a:t> + pricing power + </a:t>
            </a:r>
            <a:r>
              <a:rPr lang="es-ES" dirty="0"/>
              <a:t>potenciar </a:t>
            </a:r>
            <a:r>
              <a:rPr dirty="0" err="1"/>
              <a:t>líneas</a:t>
            </a:r>
            <a:r>
              <a:rPr dirty="0"/>
              <a:t> alto </a:t>
            </a:r>
            <a:r>
              <a:rPr dirty="0" err="1"/>
              <a:t>margen</a:t>
            </a:r>
            <a:r>
              <a:rPr dirty="0"/>
              <a:t> (online 70%, B2B 20%)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937760"/>
            <a:ext cx="8229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57D"/>
                </a:solidFill>
              </a:defRPr>
            </a:pPr>
            <a:r>
              <a:t>Mondragon Unibertsitatea — Revenue Drivers &amp; Growth Strategy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655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B3A57"/>
                </a:solidFill>
                <a:latin typeface="Georgia"/>
              </a:defRPr>
            </a:pPr>
            <a:r>
              <a:rPr dirty="0"/>
              <a:t>Financial Transformation: The Investment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6081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67E50"/>
                </a:solidFill>
              </a:defRPr>
            </a:pPr>
            <a:r>
              <a:rPr dirty="0"/>
              <a:t>Cooperativa </a:t>
            </a:r>
            <a:r>
              <a:rPr dirty="0" err="1"/>
              <a:t>Ineficiente</a:t>
            </a:r>
            <a:r>
              <a:rPr dirty="0"/>
              <a:t> → </a:t>
            </a:r>
            <a:r>
              <a:rPr lang="es-ES" dirty="0"/>
              <a:t>Empresa Privada </a:t>
            </a:r>
            <a:r>
              <a:rPr dirty="0"/>
              <a:t>Rentable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4023360" cy="29260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90195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FY2024: COOPERATIVA ACTUAL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3840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(€ thousands)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51460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</a:defRPr>
            </a:pPr>
            <a:r>
              <a:t>19,599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COGS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74320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(40)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Gross Profit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</a:defRPr>
            </a:pPr>
            <a:r>
              <a:t>19,560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Gross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20040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99.8%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Other income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4747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3,577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SG&amp;A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7033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(23,048)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977639"/>
            <a:ext cx="301752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069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EBITDA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069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</a:defRPr>
            </a:pPr>
            <a: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89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EBITDA Margin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3891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0.45%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1828800"/>
            <a:ext cx="4023360" cy="292608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0" y="190195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FY2029: POST-TRANSFORMACIÓN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2286000"/>
            <a:ext cx="3840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rPr dirty="0"/>
              <a:t>(€ thousands)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5146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Revenue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514600"/>
            <a:ext cx="64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</a:defRPr>
            </a:pPr>
            <a:r>
              <a:rPr dirty="0"/>
              <a:t>2</a:t>
            </a:r>
            <a:r>
              <a:rPr lang="es-ES" dirty="0"/>
              <a:t>7</a:t>
            </a:r>
            <a:r>
              <a:rPr dirty="0"/>
              <a:t>,48</a:t>
            </a:r>
            <a:r>
              <a:rPr lang="es-ES" dirty="0"/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7432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COGS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74320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(50)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9718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Gross Profit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297180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</a:defRPr>
            </a:pPr>
            <a:r>
              <a:t>29,432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20040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Gross Margin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320040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99.8%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47472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Other income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34747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20" y="370332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SG&amp;A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37033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(28,893)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3977639"/>
            <a:ext cx="301752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846320" y="4069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EBITDA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069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</a:defRPr>
            </a:pPr>
            <a:r>
              <a:t>5,257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389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EBITDA Margin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43891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17.8%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892040"/>
            <a:ext cx="8229600" cy="0"/>
          </a:xfrm>
          <a:prstGeom prst="rect">
            <a:avLst/>
          </a:prstGeom>
          <a:solidFill>
            <a:srgbClr val="E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8640" y="4965192"/>
            <a:ext cx="80467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Value Creation: EBITDA €89k → €5.3M (+5,821%) | Margin 0.45% → 17.8% (+17.4pp) | 100% operational improvement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983480"/>
            <a:ext cx="82296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57D"/>
                </a:solidFill>
              </a:defRPr>
            </a:pPr>
            <a:r>
              <a:t>Mondragon Unibertsitatea — Financial Transformation (FY2024 Actual vs FY2029 Projected)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B3A57"/>
                </a:solidFill>
                <a:latin typeface="Georgia"/>
              </a:defRPr>
            </a:pPr>
            <a:r>
              <a:t>Valuation &amp; Buyer Universe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7721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67E50"/>
                </a:solidFill>
              </a:defRPr>
            </a:pPr>
            <a:r>
              <a:rPr dirty="0"/>
              <a:t>€9-12M Entry Valuation — Strong PE &amp; Strategic Interest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34410"/>
            <a:ext cx="4114800" cy="1858536"/>
          </a:xfrm>
          <a:prstGeom prst="rect">
            <a:avLst/>
          </a:prstGeom>
          <a:solidFill>
            <a:srgbClr val="F8F9FA"/>
          </a:solidFill>
          <a:ln>
            <a:solidFill>
              <a:srgbClr val="E67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69725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A57"/>
                </a:solidFill>
              </a:defRPr>
            </a:pPr>
            <a:r>
              <a:t>Valuation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4046"/>
            <a:ext cx="3931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C3E50"/>
                </a:solidFill>
              </a:defRPr>
            </a:pPr>
            <a:r>
              <a:t>Comparables (8-9x EBITDA)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844046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C3E50"/>
                </a:solidFill>
              </a:defRPr>
            </a:pPr>
            <a:r>
              <a:t>€10.4-11.7M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26926"/>
            <a:ext cx="3931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C3E50"/>
                </a:solidFill>
              </a:defRPr>
            </a:pPr>
            <a:r>
              <a:t>Precedentes M&amp;A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026926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C3E50"/>
                </a:solidFill>
              </a:defRPr>
            </a:pPr>
            <a:r>
              <a:rPr dirty="0"/>
              <a:t>€9.1-13.0M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09806"/>
            <a:ext cx="3931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C3E50"/>
                </a:solidFill>
              </a:defRPr>
            </a:pPr>
            <a:r>
              <a:t>DCF (WACC 12.5%, g 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209806"/>
            <a:ext cx="914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C3E50"/>
                </a:solidFill>
              </a:defRPr>
            </a:pPr>
            <a:r>
              <a:rPr dirty="0"/>
              <a:t>€10.0-12.0M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60708"/>
            <a:ext cx="3840480" cy="365760"/>
          </a:xfrm>
          <a:prstGeom prst="rect">
            <a:avLst/>
          </a:prstGeom>
          <a:solidFill>
            <a:srgbClr val="E67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51155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RANGO VALORACIÓN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1155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</a:defRPr>
            </a:pPr>
            <a:r>
              <a:t>€9-12M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86587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C3E50"/>
                </a:solidFill>
              </a:defRPr>
            </a:pPr>
            <a:r>
              <a:rPr dirty="0"/>
              <a:t>• </a:t>
            </a:r>
            <a:r>
              <a:rPr dirty="0" err="1"/>
              <a:t>Descuento</a:t>
            </a:r>
            <a:r>
              <a:rPr dirty="0"/>
              <a:t> </a:t>
            </a:r>
            <a:r>
              <a:rPr dirty="0" err="1"/>
              <a:t>cooperativa</a:t>
            </a:r>
            <a:r>
              <a:rPr dirty="0"/>
              <a:t> (8-9x vs 10-14x privado)</a:t>
            </a:r>
            <a:br>
              <a:rPr dirty="0"/>
            </a:br>
            <a:r>
              <a:rPr dirty="0"/>
              <a:t>• Escala </a:t>
            </a:r>
            <a:r>
              <a:rPr dirty="0" err="1"/>
              <a:t>moderada</a:t>
            </a:r>
            <a:r>
              <a:rPr dirty="0"/>
              <a:t> vs </a:t>
            </a:r>
            <a:r>
              <a:rPr dirty="0" err="1"/>
              <a:t>universidades</a:t>
            </a:r>
            <a:r>
              <a:rPr dirty="0"/>
              <a:t> €100M+</a:t>
            </a:r>
            <a:br>
              <a:rPr dirty="0"/>
            </a:br>
            <a:r>
              <a:rPr dirty="0"/>
              <a:t>• Upside post-</a:t>
            </a:r>
            <a:r>
              <a:rPr dirty="0" err="1"/>
              <a:t>transformación</a:t>
            </a:r>
            <a:r>
              <a:rPr dirty="0"/>
              <a:t>: €35-42M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1534410"/>
            <a:ext cx="4023360" cy="1858536"/>
          </a:xfrm>
          <a:prstGeom prst="rect">
            <a:avLst/>
          </a:prstGeom>
          <a:solidFill>
            <a:srgbClr val="1B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0" y="1599461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Potential Buyers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187489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PE Buyers: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10349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FFFFFF"/>
                </a:solidFill>
              </a:defRPr>
            </a:pPr>
            <a:r>
              <a:t>• Permira, EQT, Apax (track record educación)</a:t>
            </a:r>
            <a:br/>
            <a:r>
              <a:t>• Cinven, CVC (digitalización)</a:t>
            </a:r>
            <a:br/>
            <a:r>
              <a:t>• Bridgepoint, MCH, Nazca (mid-market ibérico)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56069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rPr dirty="0"/>
              <a:t>Strategic Buyers: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278929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FFFFFF"/>
                </a:solidFill>
              </a:defRPr>
            </a:pPr>
            <a:r>
              <a:rPr dirty="0"/>
              <a:t>• CEU, U. Europea (</a:t>
            </a:r>
            <a:r>
              <a:rPr dirty="0" err="1"/>
              <a:t>consolidación</a:t>
            </a:r>
            <a:r>
              <a:rPr dirty="0"/>
              <a:t> </a:t>
            </a:r>
            <a:r>
              <a:rPr dirty="0" err="1"/>
              <a:t>española</a:t>
            </a:r>
            <a:r>
              <a:rPr dirty="0"/>
              <a:t>)</a:t>
            </a:r>
            <a:br>
              <a:rPr dirty="0"/>
            </a:br>
            <a:r>
              <a:rPr dirty="0"/>
              <a:t>• </a:t>
            </a:r>
            <a:r>
              <a:rPr dirty="0" err="1"/>
              <a:t>Proeduca</a:t>
            </a:r>
            <a:r>
              <a:rPr dirty="0"/>
              <a:t>, </a:t>
            </a:r>
            <a:r>
              <a:rPr dirty="0" err="1"/>
              <a:t>Ilumno</a:t>
            </a:r>
            <a:r>
              <a:rPr dirty="0"/>
              <a:t> (</a:t>
            </a:r>
            <a:r>
              <a:rPr dirty="0" err="1"/>
              <a:t>plataformas</a:t>
            </a:r>
            <a:r>
              <a:rPr dirty="0"/>
              <a:t> </a:t>
            </a:r>
            <a:r>
              <a:rPr dirty="0" err="1"/>
              <a:t>educativas</a:t>
            </a:r>
            <a:r>
              <a:rPr dirty="0"/>
              <a:t>)</a:t>
            </a:r>
            <a:br>
              <a:rPr dirty="0"/>
            </a:br>
            <a:r>
              <a:rPr dirty="0"/>
              <a:t>• Galileo, </a:t>
            </a:r>
            <a:r>
              <a:rPr dirty="0" err="1"/>
              <a:t>Studialis</a:t>
            </a:r>
            <a:r>
              <a:rPr dirty="0"/>
              <a:t> (</a:t>
            </a:r>
            <a:r>
              <a:rPr dirty="0" err="1"/>
              <a:t>operadores</a:t>
            </a:r>
            <a:r>
              <a:rPr dirty="0"/>
              <a:t> </a:t>
            </a:r>
            <a:r>
              <a:rPr dirty="0" err="1"/>
              <a:t>internacionales</a:t>
            </a:r>
            <a:r>
              <a:rPr dirty="0"/>
              <a:t>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75826"/>
            <a:ext cx="8229600" cy="1051560"/>
          </a:xfrm>
          <a:prstGeom prst="rect">
            <a:avLst/>
          </a:prstGeom>
          <a:solidFill>
            <a:srgbClr val="F8F9FA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355464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A57"/>
                </a:solidFill>
              </a:defRPr>
            </a:pPr>
            <a:r>
              <a:rPr dirty="0"/>
              <a:t>Investment Rationale — Por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Comprar</a:t>
            </a:r>
            <a:r>
              <a:rPr dirty="0"/>
              <a:t> </a:t>
            </a:r>
            <a:r>
              <a:rPr dirty="0" err="1"/>
              <a:t>Ahora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762053"/>
            <a:ext cx="25603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C3E50"/>
                </a:solidFill>
              </a:defRPr>
            </a:pPr>
            <a:r>
              <a:t>1. Marca Única &amp; Defensible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4493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C3E50"/>
                </a:solidFill>
              </a:defRPr>
            </a:pPr>
            <a:r>
              <a:t>• 60+ años, líder STEM</a:t>
            </a:r>
            <a:br/>
            <a:r>
              <a:t>• Empleabilidad &gt;90%</a:t>
            </a:r>
            <a:br/>
            <a:r>
              <a:t>• Conexión Grupo Mondragón</a:t>
            </a:r>
            <a:br/>
            <a:r>
              <a:t>• Difícil de replicar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762053"/>
            <a:ext cx="25603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C3E50"/>
                </a:solidFill>
              </a:defRPr>
            </a:pPr>
            <a:r>
              <a:t>2. Clear Value Creation Path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4493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C3E50"/>
                </a:solidFill>
              </a:defRPr>
            </a:pPr>
            <a:r>
              <a:rPr dirty="0"/>
              <a:t>• EBITDA growth +5,821%</a:t>
            </a:r>
            <a:br>
              <a:rPr dirty="0"/>
            </a:br>
            <a:r>
              <a:rPr dirty="0"/>
              <a:t>• Margin expansion 0.45% → 17.8%</a:t>
            </a:r>
            <a:br>
              <a:rPr dirty="0"/>
            </a:br>
            <a:r>
              <a:rPr dirty="0"/>
              <a:t>• 100% operational (no leverage)</a:t>
            </a:r>
            <a:br>
              <a:rPr dirty="0"/>
            </a:br>
            <a:r>
              <a:rPr dirty="0"/>
              <a:t>• Exit value €35-42M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3747185"/>
            <a:ext cx="25603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C3E50"/>
                </a:solidFill>
              </a:defRPr>
            </a:pPr>
            <a:r>
              <a:t>3. Market Timing Favorable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944934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2C3E50"/>
                </a:solidFill>
              </a:defRPr>
            </a:pPr>
            <a:r>
              <a:t>• Múltiplos sector elevados</a:t>
            </a:r>
            <a:br/>
            <a:r>
              <a:t>• Demanda STEM creciente</a:t>
            </a:r>
            <a:br/>
            <a:r>
              <a:t>• Consolidación activa</a:t>
            </a:r>
            <a:br/>
            <a:r>
              <a:t>• Activo único en España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937760"/>
            <a:ext cx="8229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57D"/>
                </a:solidFill>
              </a:defRPr>
            </a:pPr>
            <a:r>
              <a:t>Mondragon Unibertsitatea — Valuation &amp; Investment Thesis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667</Words>
  <Application>Microsoft Office PowerPoint</Application>
  <PresentationFormat>Presentación en pantalla (16:9)</PresentationFormat>
  <Paragraphs>99</Paragraphs>
  <Slides>4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Aitor BERNAL</cp:lastModifiedBy>
  <cp:revision>4</cp:revision>
  <dcterms:created xsi:type="dcterms:W3CDTF">2013-01-27T09:14:16Z</dcterms:created>
  <dcterms:modified xsi:type="dcterms:W3CDTF">2025-11-24T21:40:16Z</dcterms:modified>
  <cp:category/>
</cp:coreProperties>
</file>