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8C97A-3A73-402D-866D-1DFF1A5B17AC}" v="2" dt="2025-11-28T22:11:56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tor BERNAL" userId="c802b195-92b9-4ef7-bac0-e9c1cb4e894b" providerId="ADAL" clId="{7A4A75A7-AF09-4743-9C36-3F116DAB9A6D}"/>
    <pc:docChg chg="undo custSel addSld delSld modSld">
      <pc:chgData name="Aitor BERNAL" userId="c802b195-92b9-4ef7-bac0-e9c1cb4e894b" providerId="ADAL" clId="{7A4A75A7-AF09-4743-9C36-3F116DAB9A6D}" dt="2025-11-28T22:14:10.005" v="254" actId="313"/>
      <pc:docMkLst>
        <pc:docMk/>
      </pc:docMkLst>
      <pc:sldChg chg="modSp mod">
        <pc:chgData name="Aitor BERNAL" userId="c802b195-92b9-4ef7-bac0-e9c1cb4e894b" providerId="ADAL" clId="{7A4A75A7-AF09-4743-9C36-3F116DAB9A6D}" dt="2025-11-28T21:48:46.450" v="206" actId="14100"/>
        <pc:sldMkLst>
          <pc:docMk/>
          <pc:sldMk cId="0" sldId="256"/>
        </pc:sldMkLst>
        <pc:spChg chg="mod">
          <ac:chgData name="Aitor BERNAL" userId="c802b195-92b9-4ef7-bac0-e9c1cb4e894b" providerId="ADAL" clId="{7A4A75A7-AF09-4743-9C36-3F116DAB9A6D}" dt="2025-11-28T21:48:46.450" v="206" actId="14100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Aitor BERNAL" userId="c802b195-92b9-4ef7-bac0-e9c1cb4e894b" providerId="ADAL" clId="{7A4A75A7-AF09-4743-9C36-3F116DAB9A6D}" dt="2025-11-28T21:36:51.467" v="120" actId="20577"/>
        <pc:sldMkLst>
          <pc:docMk/>
          <pc:sldMk cId="0" sldId="257"/>
        </pc:sldMkLst>
        <pc:spChg chg="mod">
          <ac:chgData name="Aitor BERNAL" userId="c802b195-92b9-4ef7-bac0-e9c1cb4e894b" providerId="ADAL" clId="{7A4A75A7-AF09-4743-9C36-3F116DAB9A6D}" dt="2025-11-28T21:36:51.467" v="120" actId="20577"/>
          <ac:spMkLst>
            <pc:docMk/>
            <pc:sldMk cId="0" sldId="257"/>
            <ac:spMk id="23" creationId="{00000000-0000-0000-0000-000000000000}"/>
          </ac:spMkLst>
        </pc:spChg>
      </pc:sldChg>
      <pc:sldChg chg="modSp del mod">
        <pc:chgData name="Aitor BERNAL" userId="c802b195-92b9-4ef7-bac0-e9c1cb4e894b" providerId="ADAL" clId="{7A4A75A7-AF09-4743-9C36-3F116DAB9A6D}" dt="2025-11-28T22:12:09.854" v="248" actId="47"/>
        <pc:sldMkLst>
          <pc:docMk/>
          <pc:sldMk cId="0" sldId="259"/>
        </pc:sldMkLst>
        <pc:spChg chg="mod">
          <ac:chgData name="Aitor BERNAL" userId="c802b195-92b9-4ef7-bac0-e9c1cb4e894b" providerId="ADAL" clId="{7A4A75A7-AF09-4743-9C36-3F116DAB9A6D}" dt="2025-11-28T22:03:17.896" v="21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2:03:29.856" v="219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2:03:44.393" v="24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1:59:39.148" v="208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Aitor BERNAL" userId="c802b195-92b9-4ef7-bac0-e9c1cb4e894b" providerId="ADAL" clId="{7A4A75A7-AF09-4743-9C36-3F116DAB9A6D}" dt="2025-11-28T21:44:05.312" v="205" actId="20577"/>
        <pc:sldMkLst>
          <pc:docMk/>
          <pc:sldMk cId="0" sldId="260"/>
        </pc:sldMkLst>
        <pc:spChg chg="mod">
          <ac:chgData name="Aitor BERNAL" userId="c802b195-92b9-4ef7-bac0-e9c1cb4e894b" providerId="ADAL" clId="{7A4A75A7-AF09-4743-9C36-3F116DAB9A6D}" dt="2025-11-28T21:44:05.312" v="205" actId="20577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Aitor BERNAL" userId="c802b195-92b9-4ef7-bac0-e9c1cb4e894b" providerId="ADAL" clId="{7A4A75A7-AF09-4743-9C36-3F116DAB9A6D}" dt="2025-11-28T22:14:10.005" v="254" actId="313"/>
        <pc:sldMkLst>
          <pc:docMk/>
          <pc:sldMk cId="0" sldId="261"/>
        </pc:sldMkLst>
        <pc:spChg chg="mod">
          <ac:chgData name="Aitor BERNAL" userId="c802b195-92b9-4ef7-bac0-e9c1cb4e894b" providerId="ADAL" clId="{7A4A75A7-AF09-4743-9C36-3F116DAB9A6D}" dt="2025-11-28T22:14:10.005" v="254" actId="31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1:28:46.369" v="118" actId="1035"/>
          <ac:spMkLst>
            <pc:docMk/>
            <pc:sldMk cId="0" sldId="261"/>
            <ac:spMk id="30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1:27:16.650" v="9" actId="20577"/>
          <ac:spMkLst>
            <pc:docMk/>
            <pc:sldMk cId="0" sldId="261"/>
            <ac:spMk id="33" creationId="{00000000-0000-0000-0000-000000000000}"/>
          </ac:spMkLst>
        </pc:spChg>
      </pc:sldChg>
      <pc:sldChg chg="modSp add mod">
        <pc:chgData name="Aitor BERNAL" userId="c802b195-92b9-4ef7-bac0-e9c1cb4e894b" providerId="ADAL" clId="{7A4A75A7-AF09-4743-9C36-3F116DAB9A6D}" dt="2025-11-28T22:12:18.496" v="253" actId="1035"/>
        <pc:sldMkLst>
          <pc:docMk/>
          <pc:sldMk cId="0" sldId="262"/>
        </pc:sldMkLst>
        <pc:spChg chg="mod">
          <ac:chgData name="Aitor BERNAL" userId="c802b195-92b9-4ef7-bac0-e9c1cb4e894b" providerId="ADAL" clId="{7A4A75A7-AF09-4743-9C36-3F116DAB9A6D}" dt="2025-11-28T22:12:18.496" v="253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itor BERNAL" userId="c802b195-92b9-4ef7-bac0-e9c1cb4e894b" providerId="ADAL" clId="{7A4A75A7-AF09-4743-9C36-3F116DAB9A6D}" dt="2025-11-28T22:12:18.496" v="253" actId="1035"/>
          <ac:spMkLst>
            <pc:docMk/>
            <pc:sldMk cId="0" sldId="262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EAEC1-4637-43C0-B7BE-ED995A468212}" type="datetimeFigureOut">
              <a:rPr lang="es-ES" smtClean="0"/>
              <a:t>28/11/2025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F3B4C-74A9-4EB4-9F92-F3FB1211C1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36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F3B4C-74A9-4EB4-9F92-F3FB1211C1A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4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F3B4C-74A9-4EB4-9F92-F3FB1211C1A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36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B3A57"/>
                </a:solidFill>
                <a:latin typeface="Georgia"/>
              </a:defRPr>
            </a:pPr>
            <a:r>
              <a:t>Mondragon Unibertsitatea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50"/>
                </a:solidFill>
              </a:defRPr>
            </a:pPr>
            <a:r>
              <a:t>Executive Summary — Venta de Participación Mayoritaria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32913"/>
            <a:ext cx="4754880" cy="938837"/>
          </a:xfrm>
          <a:prstGeom prst="rect">
            <a:avLst/>
          </a:prstGeom>
          <a:solidFill>
            <a:srgbClr val="F8F9FA"/>
          </a:solidFill>
          <a:ln>
            <a:solidFill>
              <a:srgbClr val="E67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035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A57"/>
                </a:solidFill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Mondragon </a:t>
            </a:r>
            <a:r>
              <a:rPr dirty="0" err="1"/>
              <a:t>Unibertsitatea</a:t>
            </a:r>
            <a:r>
              <a:rPr dirty="0"/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4812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rPr dirty="0"/>
              <a:t>• Universidad </a:t>
            </a:r>
            <a:r>
              <a:rPr dirty="0" err="1"/>
              <a:t>privada</a:t>
            </a:r>
            <a:r>
              <a:rPr dirty="0"/>
              <a:t> </a:t>
            </a:r>
            <a:r>
              <a:rPr dirty="0" err="1"/>
              <a:t>cooperativa</a:t>
            </a:r>
            <a:r>
              <a:rPr dirty="0"/>
              <a:t> (60+ </a:t>
            </a:r>
            <a:r>
              <a:rPr dirty="0" err="1"/>
              <a:t>años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Especialización</a:t>
            </a:r>
            <a:r>
              <a:rPr dirty="0"/>
              <a:t> STEM (</a:t>
            </a:r>
            <a:r>
              <a:rPr dirty="0" err="1"/>
              <a:t>ingeniería</a:t>
            </a:r>
            <a:r>
              <a:rPr dirty="0"/>
              <a:t>, </a:t>
            </a:r>
            <a:r>
              <a:rPr dirty="0" err="1"/>
              <a:t>tecnología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Empleabilidad</a:t>
            </a:r>
            <a:r>
              <a:rPr dirty="0"/>
              <a:t> &gt;90%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36882"/>
            <a:ext cx="4754880" cy="6400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8260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Transacción Propuesta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120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rPr dirty="0"/>
              <a:t>Venta de </a:t>
            </a:r>
            <a:r>
              <a:rPr dirty="0" err="1"/>
              <a:t>participación</a:t>
            </a:r>
            <a:r>
              <a:rPr dirty="0"/>
              <a:t> </a:t>
            </a:r>
            <a:r>
              <a:rPr dirty="0" err="1"/>
              <a:t>mayoritaria</a:t>
            </a:r>
            <a:r>
              <a:rPr dirty="0"/>
              <a:t> (&gt;50%)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76384"/>
            <a:ext cx="4754880" cy="777240"/>
          </a:xfrm>
          <a:prstGeom prst="rect">
            <a:avLst/>
          </a:prstGeom>
          <a:solidFill>
            <a:srgbClr val="F8F9FA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53010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A57"/>
                </a:solidFill>
              </a:defRPr>
            </a:pPr>
            <a:r>
              <a:rPr dirty="0"/>
              <a:t>Equity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64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rPr dirty="0"/>
              <a:t>• Marca </a:t>
            </a:r>
            <a:r>
              <a:rPr dirty="0" err="1"/>
              <a:t>consolidada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ingeniería</a:t>
            </a:r>
            <a:br>
              <a:rPr dirty="0"/>
            </a:br>
            <a:r>
              <a:rPr dirty="0"/>
              <a:t>• Modelo asset-light, </a:t>
            </a:r>
            <a:r>
              <a:rPr dirty="0" err="1"/>
              <a:t>márgenes</a:t>
            </a:r>
            <a:r>
              <a:rPr dirty="0"/>
              <a:t> </a:t>
            </a:r>
            <a:r>
              <a:rPr dirty="0" err="1"/>
              <a:t>escalables</a:t>
            </a:r>
            <a:br>
              <a:rPr dirty="0"/>
            </a:br>
            <a:r>
              <a:rPr dirty="0"/>
              <a:t>• </a:t>
            </a:r>
            <a:r>
              <a:rPr dirty="0" err="1"/>
              <a:t>Potencial</a:t>
            </a:r>
            <a:r>
              <a:rPr dirty="0"/>
              <a:t> </a:t>
            </a:r>
            <a:r>
              <a:rPr dirty="0" err="1"/>
              <a:t>digitalización</a:t>
            </a:r>
            <a:r>
              <a:rPr dirty="0"/>
              <a:t> e </a:t>
            </a:r>
            <a:r>
              <a:rPr dirty="0" err="1"/>
              <a:t>internacionalización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0" y="124150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3A57"/>
                </a:solidFill>
              </a:defRPr>
            </a:pPr>
            <a:r>
              <a:rPr dirty="0"/>
              <a:t>Current Performance (FY2024)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607263"/>
            <a:ext cx="3200400" cy="64008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77840" y="163291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€19.6M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979269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 dirty="0"/>
              <a:t>Revenue (</a:t>
            </a:r>
            <a:r>
              <a:rPr dirty="0" err="1"/>
              <a:t>cooperativa</a:t>
            </a:r>
            <a:r>
              <a:rPr dirty="0"/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338783"/>
            <a:ext cx="3200400" cy="640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77840" y="2349565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€89k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703355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rPr dirty="0"/>
              <a:t>EBITDA (</a:t>
            </a:r>
            <a:r>
              <a:rPr dirty="0" err="1"/>
              <a:t>margen</a:t>
            </a:r>
            <a:r>
              <a:rPr dirty="0"/>
              <a:t> 0.45%)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3070303"/>
            <a:ext cx="3200400" cy="640080"/>
          </a:xfrm>
          <a:prstGeom prst="rect">
            <a:avLst/>
          </a:prstGeom>
          <a:solidFill>
            <a:srgbClr val="F8F9FA"/>
          </a:solidFill>
          <a:ln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3118255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8A745"/>
                </a:solidFill>
              </a:defRPr>
            </a:pPr>
            <a:r>
              <a:rPr lang="es-ES" dirty="0"/>
              <a:t>58,2x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577840" y="3454351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</a:defRPr>
            </a:pPr>
            <a:r>
              <a:rPr lang="es-ES" dirty="0"/>
              <a:t>Potencial crecimiento </a:t>
            </a:r>
            <a:r>
              <a:rPr dirty="0"/>
              <a:t>EBITDA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816691"/>
            <a:ext cx="3200400" cy="541577"/>
          </a:xfrm>
          <a:prstGeom prst="rect">
            <a:avLst/>
          </a:prstGeom>
          <a:solidFill>
            <a:srgbClr val="FFF8E1"/>
          </a:solidFill>
          <a:ln w="25400">
            <a:solidFill>
              <a:srgbClr val="E67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0" y="3874975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50"/>
                </a:solidFill>
              </a:defRPr>
            </a:pPr>
            <a:r>
              <a:t>€9-12M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076143"/>
            <a:ext cx="3017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</a:defRPr>
            </a:pPr>
            <a:r>
              <a:rPr dirty="0" err="1"/>
              <a:t>Valoración</a:t>
            </a:r>
            <a:r>
              <a:rPr dirty="0"/>
              <a:t> 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Mondragon Unibertsitatea —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5834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B3A57"/>
                </a:solidFill>
                <a:latin typeface="Georgia"/>
              </a:defRPr>
            </a:pPr>
            <a:r>
              <a:rPr dirty="0"/>
              <a:t>Drivers </a:t>
            </a:r>
            <a:r>
              <a:rPr lang="es-ES" dirty="0"/>
              <a:t>de crecimiento </a:t>
            </a:r>
            <a:r>
              <a:rPr dirty="0"/>
              <a:t>&amp; Revenue Build-Up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77928"/>
            <a:ext cx="45348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50"/>
                </a:solidFill>
              </a:defRPr>
            </a:pPr>
            <a:r>
              <a:rPr dirty="0"/>
              <a:t>€19.6M → €29.5M (+50% </a:t>
            </a:r>
            <a:r>
              <a:rPr lang="es-ES" dirty="0"/>
              <a:t>crecimiento </a:t>
            </a:r>
            <a:r>
              <a:rPr dirty="0"/>
              <a:t>) | FY2024 → FY2029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90912"/>
            <a:ext cx="8229600" cy="27432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92027"/>
            <a:ext cx="8046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Revenue Bridge: FY2024 → FY2029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02392"/>
            <a:ext cx="1463040" cy="5943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166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€19.6M</a:t>
            </a:r>
            <a:br/>
            <a:r>
              <a:t>FY2024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048112"/>
            <a:ext cx="128016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2075544"/>
            <a:ext cx="11887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+€7.7M</a:t>
            </a:r>
            <a:br>
              <a:rPr dirty="0"/>
            </a:br>
            <a:r>
              <a:rPr lang="es-ES" dirty="0"/>
              <a:t>Crecimiento Base</a:t>
            </a:r>
            <a:br>
              <a:rPr dirty="0"/>
            </a:br>
            <a:r>
              <a:rPr dirty="0"/>
              <a:t>(</a:t>
            </a:r>
            <a:r>
              <a:rPr dirty="0" err="1"/>
              <a:t>volume+pricing</a:t>
            </a:r>
            <a:r>
              <a:rPr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39552"/>
            <a:ext cx="10058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11836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+€0.4M</a:t>
            </a:r>
            <a:br>
              <a:rPr dirty="0"/>
            </a:br>
            <a:r>
              <a:rPr dirty="0"/>
              <a:t>Online</a:t>
            </a:r>
            <a:br>
              <a:rPr dirty="0"/>
            </a:br>
            <a:r>
              <a:rPr dirty="0"/>
              <a:t>Expansion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139552"/>
            <a:ext cx="10058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125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+€0.4M</a:t>
            </a:r>
            <a:br>
              <a:rPr dirty="0"/>
            </a:br>
            <a:r>
              <a:rPr dirty="0"/>
              <a:t>Intl.</a:t>
            </a:r>
            <a:br>
              <a:rPr dirty="0"/>
            </a:br>
            <a:r>
              <a:rPr dirty="0"/>
              <a:t>Premium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139552"/>
            <a:ext cx="10058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1406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+€1.2M</a:t>
            </a:r>
            <a:br>
              <a:rPr dirty="0"/>
            </a:br>
            <a:r>
              <a:rPr dirty="0"/>
              <a:t>Corporate</a:t>
            </a:r>
            <a:br>
              <a:rPr dirty="0"/>
            </a:br>
            <a:r>
              <a:rPr dirty="0"/>
              <a:t>B2B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002392"/>
            <a:ext cx="1554480" cy="59436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211494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€29.5M</a:t>
            </a:r>
            <a:br>
              <a:rPr dirty="0"/>
            </a:br>
            <a:r>
              <a:rPr dirty="0"/>
              <a:t>FY2029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49886"/>
            <a:ext cx="4114800" cy="1539232"/>
          </a:xfrm>
          <a:prstGeom prst="rect">
            <a:avLst/>
          </a:prstGeom>
          <a:solidFill>
            <a:srgbClr val="F8F9FA"/>
          </a:solidFill>
          <a:ln>
            <a:solidFill>
              <a:srgbClr val="E67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892258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B3A57"/>
                </a:solidFill>
              </a:defRPr>
            </a:pPr>
            <a:r>
              <a:rPr dirty="0"/>
              <a:t>1. </a:t>
            </a:r>
            <a:r>
              <a:rPr lang="es-ES" dirty="0"/>
              <a:t>Crecimiento de ventas base</a:t>
            </a:r>
            <a:r>
              <a:rPr dirty="0"/>
              <a:t>(+39%)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36840"/>
            <a:ext cx="3931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C3E50"/>
                </a:solidFill>
              </a:defRPr>
            </a:pPr>
            <a:r>
              <a:rPr lang="es-ES" dirty="0"/>
              <a:t>CANTIDAD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Crecimiento de estudiantes presenciales </a:t>
            </a:r>
            <a:r>
              <a:rPr dirty="0" err="1"/>
              <a:t>moderado</a:t>
            </a:r>
            <a:br>
              <a:rPr dirty="0"/>
            </a:br>
            <a:r>
              <a:rPr dirty="0"/>
              <a:t>• </a:t>
            </a:r>
            <a:r>
              <a:rPr dirty="0" err="1"/>
              <a:t>Matrícula</a:t>
            </a:r>
            <a:r>
              <a:rPr dirty="0"/>
              <a:t> </a:t>
            </a:r>
            <a:r>
              <a:rPr dirty="0" err="1"/>
              <a:t>estable</a:t>
            </a:r>
            <a:r>
              <a:rPr dirty="0"/>
              <a:t> con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operativas</a:t>
            </a:r>
            <a:br>
              <a:rPr dirty="0"/>
            </a:br>
            <a:br>
              <a:rPr dirty="0"/>
            </a:br>
            <a:r>
              <a:rPr dirty="0"/>
              <a:t>PRICING:</a:t>
            </a:r>
            <a:br>
              <a:rPr dirty="0"/>
            </a:br>
            <a:r>
              <a:rPr dirty="0"/>
              <a:t>• </a:t>
            </a:r>
            <a:r>
              <a:rPr dirty="0" err="1"/>
              <a:t>Matrícula</a:t>
            </a:r>
            <a:r>
              <a:rPr dirty="0"/>
              <a:t> </a:t>
            </a:r>
            <a:r>
              <a:rPr lang="es-ES" dirty="0"/>
              <a:t>aumenta</a:t>
            </a:r>
            <a:r>
              <a:rPr dirty="0"/>
              <a:t>: mix </a:t>
            </a:r>
            <a:r>
              <a:rPr dirty="0" err="1"/>
              <a:t>más</a:t>
            </a:r>
            <a:r>
              <a:rPr dirty="0"/>
              <a:t> premium (</a:t>
            </a:r>
            <a:r>
              <a:rPr dirty="0" err="1"/>
              <a:t>internacional</a:t>
            </a:r>
            <a:r>
              <a:rPr dirty="0"/>
              <a:t> +15%)</a:t>
            </a:r>
            <a:br>
              <a:rPr dirty="0"/>
            </a:br>
            <a:r>
              <a:rPr dirty="0"/>
              <a:t>• </a:t>
            </a:r>
            <a:r>
              <a:rPr dirty="0" err="1"/>
              <a:t>Mejora</a:t>
            </a:r>
            <a:r>
              <a:rPr dirty="0"/>
              <a:t> pricing power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 y </a:t>
            </a:r>
            <a:r>
              <a:rPr dirty="0" err="1"/>
              <a:t>empleabilidad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663440" y="2871071"/>
            <a:ext cx="4023360" cy="1518047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84022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lang="es-ES" dirty="0"/>
              <a:t>Fuentes de ingresos potenciadas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754880" y="3062498"/>
            <a:ext cx="38404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rPr dirty="0"/>
              <a:t>EXPANSION</a:t>
            </a:r>
            <a:r>
              <a:rPr lang="es-ES" dirty="0"/>
              <a:t> ONLINE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+</a:t>
            </a:r>
            <a:r>
              <a:rPr dirty="0"/>
              <a:t> 80 </a:t>
            </a:r>
            <a:r>
              <a:rPr dirty="0" err="1"/>
              <a:t>estudiantes</a:t>
            </a:r>
            <a:r>
              <a:rPr dirty="0"/>
              <a:t> </a:t>
            </a:r>
            <a:r>
              <a:rPr lang="es-ES" dirty="0"/>
              <a:t> </a:t>
            </a:r>
            <a:r>
              <a:rPr dirty="0"/>
              <a:t> 4,200</a:t>
            </a:r>
            <a:r>
              <a:rPr lang="es-ES" dirty="0"/>
              <a:t> €</a:t>
            </a:r>
            <a:r>
              <a:rPr dirty="0"/>
              <a:t>/</a:t>
            </a:r>
            <a:r>
              <a:rPr dirty="0" err="1"/>
              <a:t>año</a:t>
            </a:r>
            <a:br>
              <a:rPr dirty="0"/>
            </a:br>
            <a:r>
              <a:rPr dirty="0"/>
              <a:t>• </a:t>
            </a:r>
            <a:r>
              <a:rPr dirty="0" err="1"/>
              <a:t>Margen</a:t>
            </a:r>
            <a:r>
              <a:rPr dirty="0"/>
              <a:t> 70% (bajo CAPEX)</a:t>
            </a:r>
            <a:br>
              <a:rPr dirty="0"/>
            </a:br>
            <a:br>
              <a:rPr dirty="0"/>
            </a:br>
            <a:r>
              <a:rPr dirty="0"/>
              <a:t>CORPORATE B2B: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 +</a:t>
            </a:r>
            <a:r>
              <a:rPr dirty="0"/>
              <a:t> 1.2M</a:t>
            </a:r>
            <a:r>
              <a:rPr lang="es-ES" dirty="0"/>
              <a:t> €</a:t>
            </a:r>
            <a:r>
              <a:rPr dirty="0"/>
              <a:t> executive education</a:t>
            </a:r>
            <a:br>
              <a:rPr dirty="0"/>
            </a:br>
            <a:r>
              <a:rPr dirty="0"/>
              <a:t>• Partnership Grupo Mondragón (</a:t>
            </a:r>
            <a:r>
              <a:rPr dirty="0" err="1"/>
              <a:t>ventaja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79444"/>
            <a:ext cx="8229600" cy="4572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567464"/>
            <a:ext cx="804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C3E50"/>
                </a:solidFill>
              </a:defRPr>
            </a:pPr>
            <a:r>
              <a:rPr dirty="0"/>
              <a:t>Total Revenue Growth: +€9.9M (+50%) | CAGR </a:t>
            </a:r>
            <a:r>
              <a:rPr lang="es-ES" dirty="0"/>
              <a:t>7</a:t>
            </a:r>
            <a:r>
              <a:rPr dirty="0"/>
              <a:t>% | Key: </a:t>
            </a:r>
            <a:r>
              <a:rPr dirty="0" err="1"/>
              <a:t>diversificación</a:t>
            </a:r>
            <a:r>
              <a:rPr dirty="0"/>
              <a:t> + </a:t>
            </a:r>
            <a:r>
              <a:rPr lang="es-ES" dirty="0"/>
              <a:t>aumento de precios</a:t>
            </a:r>
            <a:r>
              <a:rPr dirty="0"/>
              <a:t> + </a:t>
            </a:r>
            <a:r>
              <a:rPr lang="es-ES" dirty="0"/>
              <a:t>potenciar </a:t>
            </a:r>
            <a:r>
              <a:rPr dirty="0" err="1"/>
              <a:t>líneas</a:t>
            </a:r>
            <a:r>
              <a:rPr dirty="0"/>
              <a:t> alto </a:t>
            </a:r>
            <a:r>
              <a:rPr dirty="0" err="1"/>
              <a:t>margen</a:t>
            </a:r>
            <a:r>
              <a:rPr dirty="0"/>
              <a:t> (online 70%, B2B 20%)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Mondragon Unibertsitatea — Revenue Drivers &amp; Growth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6552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B3A57"/>
                </a:solidFill>
                <a:latin typeface="Georgia"/>
              </a:defRPr>
            </a:pPr>
            <a:r>
              <a:rPr lang="es-ES" dirty="0"/>
              <a:t>Transformación financiera</a:t>
            </a:r>
            <a:r>
              <a:t>: </a:t>
            </a:r>
            <a:r>
              <a:rPr lang="es-ES"/>
              <a:t>El caso de inversión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86081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50"/>
                </a:solidFill>
              </a:defRPr>
            </a:pPr>
            <a:r>
              <a:rPr dirty="0"/>
              <a:t>Cooperativa </a:t>
            </a:r>
            <a:r>
              <a:rPr dirty="0" err="1"/>
              <a:t>Ineficiente</a:t>
            </a:r>
            <a:r>
              <a:rPr dirty="0"/>
              <a:t> → </a:t>
            </a:r>
            <a:r>
              <a:rPr lang="es-ES" dirty="0"/>
              <a:t>Empresa Privada </a:t>
            </a:r>
            <a:r>
              <a:rPr dirty="0"/>
              <a:t>Rentable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4023360" cy="2926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FY2024: COOPERATIVA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(€ thousands)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14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19,599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COGS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(40)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19,560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Other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747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3,577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SG&amp;A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03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(23,048)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30175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EBITDA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EBITDA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389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0.45%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828800"/>
            <a:ext cx="4023360" cy="2926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190195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FY2029: POST-TRANSFORMACIÓN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28600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rPr dirty="0"/>
              <a:t>(€ thousands)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5146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Revenue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514600"/>
            <a:ext cx="64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rPr dirty="0"/>
              <a:t>2</a:t>
            </a:r>
            <a:r>
              <a:rPr lang="es-ES" dirty="0"/>
              <a:t>7</a:t>
            </a:r>
            <a:r>
              <a:rPr dirty="0"/>
              <a:t>,48</a:t>
            </a:r>
            <a:r>
              <a:rPr lang="es-ES" dirty="0"/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7432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743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(50)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971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Gross Profit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9718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</a:defRPr>
            </a:pPr>
            <a:r>
              <a:t>29,432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200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Gross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200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99.8%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Other income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34747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4,717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703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SG&amp;A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7033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(28,893)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977639"/>
            <a:ext cx="30175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EBITDA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</a:defRPr>
            </a:pPr>
            <a:r>
              <a:t>5,257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389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EBITDA Margin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4389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17.8%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892040"/>
            <a:ext cx="8229600" cy="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496519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Value Creation: EBITDA €89k → €5.3M (+5,821%) | Margin 0.45% → 17.8% (+17.4pp) | 100% operational improvement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983480"/>
            <a:ext cx="82296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Mondragon Unibertsitatea — Financial Transformation (FY2024 Actual vs FY2029 Projected)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00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7"/>
                </a:solidFill>
                <a:latin typeface="Georgia"/>
              </a:defRPr>
            </a:pPr>
            <a:r>
              <a:rPr dirty="0" err="1"/>
              <a:t>Oportunidad</a:t>
            </a:r>
            <a:r>
              <a:rPr dirty="0"/>
              <a:t> de </a:t>
            </a:r>
            <a:r>
              <a:rPr dirty="0" err="1"/>
              <a:t>Inversión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734868"/>
            <a:ext cx="8229600" cy="32004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dirty="0"/>
              <a:t>El Caso de Mondragón </a:t>
            </a:r>
            <a:r>
              <a:rPr dirty="0" err="1"/>
              <a:t>Unibertsitatea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183518"/>
            <a:ext cx="3886200" cy="36576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Modelo Actual &amp; </a:t>
            </a:r>
            <a:r>
              <a:rPr lang="es-ES" dirty="0"/>
              <a:t>Contexto</a:t>
            </a:r>
            <a:r>
              <a:rPr dirty="0"/>
              <a:t> </a:t>
            </a:r>
            <a:r>
              <a:rPr dirty="0" err="1"/>
              <a:t>Estratégico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594998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E67E50"/>
                </a:solidFill>
                <a:latin typeface="Arial"/>
              </a:defRPr>
            </a:pPr>
            <a:r>
              <a:t>Limitaciones del Modelo Cooperativo: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69318"/>
            <a:ext cx="3657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Gobernanza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consenso</a:t>
            </a:r>
            <a:r>
              <a:rPr dirty="0"/>
              <a:t> → </a:t>
            </a:r>
            <a:r>
              <a:rPr dirty="0" err="1"/>
              <a:t>toma</a:t>
            </a:r>
            <a:r>
              <a:rPr dirty="0"/>
              <a:t> de </a:t>
            </a:r>
            <a:r>
              <a:rPr dirty="0" err="1"/>
              <a:t>decisiones</a:t>
            </a:r>
            <a:r>
              <a:rPr dirty="0"/>
              <a:t> lenta</a:t>
            </a:r>
            <a:br>
              <a:rPr dirty="0"/>
            </a:br>
            <a:r>
              <a:rPr dirty="0"/>
              <a:t>•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limitado</a:t>
            </a:r>
            <a:r>
              <a:rPr dirty="0"/>
              <a:t> a capital </a:t>
            </a:r>
            <a:r>
              <a:rPr dirty="0" err="1"/>
              <a:t>externo</a:t>
            </a:r>
            <a:r>
              <a:rPr dirty="0"/>
              <a:t> (</a:t>
            </a:r>
            <a:r>
              <a:rPr dirty="0" err="1"/>
              <a:t>restricciones</a:t>
            </a:r>
            <a:r>
              <a:rPr dirty="0"/>
              <a:t> de equity)</a:t>
            </a:r>
            <a:br>
              <a:rPr dirty="0"/>
            </a:br>
            <a:r>
              <a:rPr dirty="0"/>
              <a:t>• Mandato social </a:t>
            </a:r>
            <a:r>
              <a:rPr dirty="0" err="1"/>
              <a:t>prioriza</a:t>
            </a:r>
            <a:r>
              <a:rPr dirty="0"/>
              <a:t> </a:t>
            </a:r>
            <a:r>
              <a:rPr dirty="0" err="1"/>
              <a:t>empleo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rentabilidad</a:t>
            </a:r>
            <a:br>
              <a:rPr dirty="0"/>
            </a:br>
            <a:r>
              <a:rPr dirty="0"/>
              <a:t>• Ratio SG&amp;A 117% </a:t>
            </a:r>
            <a:r>
              <a:rPr dirty="0" err="1"/>
              <a:t>refleja</a:t>
            </a:r>
            <a:r>
              <a:rPr dirty="0"/>
              <a:t> </a:t>
            </a:r>
            <a:r>
              <a:rPr dirty="0" err="1"/>
              <a:t>ineficiencia</a:t>
            </a:r>
            <a:r>
              <a:rPr dirty="0"/>
              <a:t> </a:t>
            </a:r>
            <a:r>
              <a:rPr dirty="0" err="1"/>
              <a:t>operativa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2646558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E67E50"/>
                </a:solidFill>
                <a:latin typeface="Arial"/>
              </a:defRPr>
            </a:pPr>
            <a:r>
              <a:rPr dirty="0" err="1"/>
              <a:t>Restricciones</a:t>
            </a:r>
            <a:r>
              <a:rPr dirty="0"/>
              <a:t> de Capital </a:t>
            </a:r>
            <a:r>
              <a:rPr lang="es-ES" dirty="0"/>
              <a:t>&amp;</a:t>
            </a:r>
            <a:r>
              <a:rPr dirty="0"/>
              <a:t> </a:t>
            </a:r>
            <a:r>
              <a:rPr dirty="0" err="1"/>
              <a:t>Necesidades</a:t>
            </a:r>
            <a:r>
              <a:rPr dirty="0"/>
              <a:t> de </a:t>
            </a:r>
            <a:r>
              <a:rPr dirty="0" err="1"/>
              <a:t>Crecimiento</a:t>
            </a:r>
            <a:r>
              <a:rPr dirty="0"/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0878"/>
            <a:ext cx="3657600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Digitalización</a:t>
            </a:r>
            <a:r>
              <a:rPr dirty="0"/>
              <a:t>: Plataforma online </a:t>
            </a:r>
            <a:r>
              <a:rPr dirty="0" err="1"/>
              <a:t>requiere</a:t>
            </a:r>
            <a:r>
              <a:rPr dirty="0"/>
              <a:t> €150-200k CAPEX</a:t>
            </a:r>
            <a:br>
              <a:rPr dirty="0"/>
            </a:br>
            <a:r>
              <a:rPr dirty="0"/>
              <a:t>• </a:t>
            </a:r>
            <a:r>
              <a:rPr dirty="0" err="1"/>
              <a:t>Internacionalización</a:t>
            </a:r>
            <a:r>
              <a:rPr dirty="0"/>
              <a:t>: </a:t>
            </a:r>
            <a:r>
              <a:rPr dirty="0" err="1"/>
              <a:t>Captación</a:t>
            </a:r>
            <a:r>
              <a:rPr dirty="0"/>
              <a:t> </a:t>
            </a:r>
            <a:r>
              <a:rPr dirty="0" err="1"/>
              <a:t>estudiantes</a:t>
            </a:r>
            <a:r>
              <a:rPr dirty="0"/>
              <a:t> €100-150k </a:t>
            </a:r>
            <a:r>
              <a:rPr dirty="0" err="1"/>
              <a:t>anuales</a:t>
            </a:r>
            <a:br>
              <a:rPr dirty="0"/>
            </a:br>
            <a:r>
              <a:rPr dirty="0"/>
              <a:t>• </a:t>
            </a:r>
            <a:r>
              <a:rPr dirty="0" err="1"/>
              <a:t>Infraestructura</a:t>
            </a:r>
            <a:r>
              <a:rPr dirty="0"/>
              <a:t>: </a:t>
            </a:r>
            <a:r>
              <a:rPr dirty="0" err="1"/>
              <a:t>Modernización</a:t>
            </a:r>
            <a:r>
              <a:rPr dirty="0"/>
              <a:t> tech stack (CRM, ERP) €200k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Expansión del campus. 2 M €	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3743838"/>
            <a:ext cx="3886200" cy="2743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Por Qué Esto Representa una Oportunidad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3878"/>
            <a:ext cx="365760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privatización</a:t>
            </a:r>
            <a:r>
              <a:rPr dirty="0"/>
              <a:t> </a:t>
            </a:r>
            <a:r>
              <a:rPr dirty="0" err="1"/>
              <a:t>desbloquea</a:t>
            </a:r>
            <a:r>
              <a:rPr dirty="0"/>
              <a:t> </a:t>
            </a:r>
            <a:r>
              <a:rPr dirty="0" err="1"/>
              <a:t>flexibilidad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 + </a:t>
            </a:r>
            <a:r>
              <a:rPr dirty="0" err="1"/>
              <a:t>acceso</a:t>
            </a:r>
            <a:r>
              <a:rPr dirty="0"/>
              <a:t> a capital. El comprador </a:t>
            </a:r>
            <a:r>
              <a:rPr dirty="0" err="1"/>
              <a:t>adquiere</a:t>
            </a:r>
            <a:r>
              <a:rPr dirty="0"/>
              <a:t> </a:t>
            </a:r>
            <a:r>
              <a:rPr dirty="0" err="1"/>
              <a:t>marca</a:t>
            </a:r>
            <a:r>
              <a:rPr dirty="0"/>
              <a:t> de 60 </a:t>
            </a:r>
            <a:r>
              <a:rPr dirty="0" err="1"/>
              <a:t>años</a:t>
            </a:r>
            <a:r>
              <a:rPr dirty="0"/>
              <a:t> con </a:t>
            </a:r>
            <a:r>
              <a:rPr dirty="0" err="1"/>
              <a:t>empleabilidad</a:t>
            </a:r>
            <a:r>
              <a:rPr dirty="0"/>
              <a:t> &gt;90% con </a:t>
            </a:r>
            <a:r>
              <a:rPr dirty="0" err="1"/>
              <a:t>descuento</a:t>
            </a:r>
            <a:r>
              <a:rPr dirty="0"/>
              <a:t> </a:t>
            </a:r>
            <a:r>
              <a:rPr dirty="0" err="1"/>
              <a:t>significativo</a:t>
            </a:r>
            <a:r>
              <a:rPr dirty="0"/>
              <a:t> (8-9x vs 12-15x </a:t>
            </a:r>
            <a:r>
              <a:rPr dirty="0" err="1"/>
              <a:t>múltiplos</a:t>
            </a:r>
            <a:r>
              <a:rPr dirty="0"/>
              <a:t> sector). Path claro de </a:t>
            </a:r>
            <a:r>
              <a:rPr dirty="0" err="1"/>
              <a:t>creación</a:t>
            </a:r>
            <a:r>
              <a:rPr dirty="0"/>
              <a:t> de valor: </a:t>
            </a:r>
            <a:r>
              <a:rPr dirty="0" err="1"/>
              <a:t>margen</a:t>
            </a:r>
            <a:r>
              <a:rPr dirty="0"/>
              <a:t> 0.45% → 17.8%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transformación</a:t>
            </a:r>
            <a:r>
              <a:rPr dirty="0"/>
              <a:t> de </a:t>
            </a:r>
            <a:r>
              <a:rPr dirty="0" err="1"/>
              <a:t>gobernanza</a:t>
            </a:r>
            <a:r>
              <a:rPr dirty="0"/>
              <a:t>, </a:t>
            </a:r>
            <a:r>
              <a:rPr dirty="0" err="1"/>
              <a:t>optimización</a:t>
            </a:r>
            <a:r>
              <a:rPr dirty="0"/>
              <a:t> SG&amp;A y </a:t>
            </a:r>
            <a:r>
              <a:rPr dirty="0" err="1"/>
              <a:t>diversificación</a:t>
            </a:r>
            <a:r>
              <a:rPr dirty="0"/>
              <a:t> de </a:t>
            </a:r>
            <a:r>
              <a:rPr dirty="0" err="1"/>
              <a:t>ingresos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183518"/>
            <a:ext cx="3886200" cy="36576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Panorama Competitivo &amp; Posicionamiento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2040" y="1594998"/>
            <a:ext cx="1371600" cy="27432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Institución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94998"/>
            <a:ext cx="914400" cy="27432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Matrícula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594998"/>
            <a:ext cx="1280160" cy="27432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Posicionamiento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91503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U. Europea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915038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€1</a:t>
            </a:r>
            <a:r>
              <a:rPr lang="es-ES" dirty="0"/>
              <a:t>2</a:t>
            </a:r>
            <a:r>
              <a:rPr dirty="0"/>
              <a:t>-</a:t>
            </a:r>
            <a:r>
              <a:rPr lang="es-ES" dirty="0"/>
              <a:t>20</a:t>
            </a:r>
            <a:r>
              <a:rPr dirty="0"/>
              <a:t>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915038"/>
            <a:ext cx="12801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Nacional, multi-campus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23507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CEU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235078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€1</a:t>
            </a:r>
            <a:r>
              <a:rPr lang="es-ES" dirty="0"/>
              <a:t>0</a:t>
            </a:r>
            <a:r>
              <a:rPr dirty="0"/>
              <a:t>-18k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2235078"/>
            <a:ext cx="12801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Premium, enfoque Madrid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555118"/>
            <a:ext cx="13716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t>Mondragón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55118"/>
            <a:ext cx="91440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2C3E50"/>
                </a:solidFill>
                <a:latin typeface="Arial"/>
              </a:defRPr>
            </a:pPr>
            <a:r>
              <a:rPr dirty="0"/>
              <a:t>€</a:t>
            </a:r>
            <a:r>
              <a:rPr lang="es-ES" dirty="0"/>
              <a:t>6.5</a:t>
            </a:r>
            <a:r>
              <a:rPr dirty="0"/>
              <a:t>k</a:t>
            </a:r>
            <a:r>
              <a:rPr lang="es-ES" dirty="0"/>
              <a:t> - €8.5k 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7269480" y="2555118"/>
            <a:ext cx="1280160" cy="2743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2C3E50"/>
                </a:solidFill>
                <a:latin typeface="Arial"/>
              </a:defRPr>
            </a:pPr>
            <a:r>
              <a:t>Regional, especialista 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875158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t>U. Pública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75158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€1-2k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2875158"/>
            <a:ext cx="12801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2C3E50"/>
                </a:solidFill>
                <a:latin typeface="Arial"/>
              </a:defRPr>
            </a:pPr>
            <a:r>
              <a:t>Mercado masivo, subvencionada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240918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28A745"/>
                </a:solidFill>
                <a:latin typeface="Arial"/>
              </a:defRPr>
            </a:pPr>
            <a:r>
              <a:t>Fortalezas Competitivas: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448332"/>
            <a:ext cx="3657600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✓ </a:t>
            </a:r>
            <a:r>
              <a:rPr dirty="0" err="1"/>
              <a:t>Empleabilidad</a:t>
            </a:r>
            <a:r>
              <a:rPr dirty="0"/>
              <a:t> &gt;90%</a:t>
            </a:r>
            <a:br>
              <a:rPr dirty="0"/>
            </a:br>
            <a:r>
              <a:rPr dirty="0"/>
              <a:t>✓ </a:t>
            </a:r>
            <a:r>
              <a:rPr dirty="0" err="1"/>
              <a:t>Conexión</a:t>
            </a:r>
            <a:r>
              <a:rPr dirty="0"/>
              <a:t> Grupo Mondragón (80k </a:t>
            </a:r>
            <a:r>
              <a:rPr dirty="0" err="1"/>
              <a:t>empleados</a:t>
            </a:r>
            <a:r>
              <a:rPr dirty="0"/>
              <a:t>, pipeline B2B)</a:t>
            </a:r>
            <a:br>
              <a:rPr dirty="0"/>
            </a:br>
            <a:r>
              <a:rPr dirty="0"/>
              <a:t>✓ Dominio regional: </a:t>
            </a:r>
            <a:r>
              <a:rPr dirty="0" err="1"/>
              <a:t>Líder</a:t>
            </a:r>
            <a:r>
              <a:rPr dirty="0"/>
              <a:t> mercado STEM País Vasco</a:t>
            </a:r>
            <a:br>
              <a:rPr dirty="0"/>
            </a:br>
            <a:r>
              <a:rPr dirty="0"/>
              <a:t>✓ Modelo asset-light: Sin carga </a:t>
            </a:r>
            <a:r>
              <a:rPr dirty="0" err="1"/>
              <a:t>inmobiliaria</a:t>
            </a:r>
            <a:r>
              <a:rPr dirty="0"/>
              <a:t> (vs CEU, U. Europea)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088412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DC3545"/>
                </a:solidFill>
                <a:latin typeface="Arial"/>
              </a:defRPr>
            </a:pPr>
            <a:r>
              <a:rPr dirty="0" err="1"/>
              <a:t>Debilidades</a:t>
            </a:r>
            <a:r>
              <a:rPr dirty="0"/>
              <a:t> vs </a:t>
            </a:r>
            <a:r>
              <a:rPr dirty="0" err="1"/>
              <a:t>Competencia</a:t>
            </a:r>
            <a:r>
              <a:rPr dirty="0"/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32996"/>
            <a:ext cx="3657600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▲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geográfico</a:t>
            </a:r>
            <a:r>
              <a:rPr dirty="0"/>
              <a:t> </a:t>
            </a:r>
            <a:r>
              <a:rPr dirty="0" err="1"/>
              <a:t>limitado</a:t>
            </a:r>
            <a:r>
              <a:rPr dirty="0"/>
              <a:t> (regional vs </a:t>
            </a:r>
            <a:r>
              <a:rPr dirty="0" err="1"/>
              <a:t>jugadores</a:t>
            </a:r>
            <a:r>
              <a:rPr dirty="0"/>
              <a:t> </a:t>
            </a:r>
            <a:r>
              <a:rPr dirty="0" err="1"/>
              <a:t>nacionales</a:t>
            </a:r>
            <a:r>
              <a:rPr dirty="0"/>
              <a:t>)</a:t>
            </a:r>
            <a:br>
              <a:rPr dirty="0"/>
            </a:br>
            <a:r>
              <a:rPr dirty="0"/>
              <a:t>▲ </a:t>
            </a:r>
            <a:r>
              <a:rPr lang="es-ES" dirty="0"/>
              <a:t>Poca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 online (vs </a:t>
            </a:r>
            <a:r>
              <a:rPr dirty="0" err="1"/>
              <a:t>competidores</a:t>
            </a:r>
            <a:r>
              <a:rPr dirty="0"/>
              <a:t> </a:t>
            </a:r>
            <a:r>
              <a:rPr dirty="0" err="1"/>
              <a:t>digitales</a:t>
            </a:r>
            <a:r>
              <a:rPr dirty="0"/>
              <a:t> </a:t>
            </a:r>
            <a:r>
              <a:rPr dirty="0" err="1"/>
              <a:t>emergentes</a:t>
            </a:r>
            <a:r>
              <a:rPr dirty="0"/>
              <a:t>)</a:t>
            </a:r>
            <a:br>
              <a:rPr dirty="0"/>
            </a:br>
            <a:r>
              <a:rPr dirty="0"/>
              <a:t>▲ </a:t>
            </a:r>
            <a:r>
              <a:rPr dirty="0" err="1"/>
              <a:t>Reconocimiento</a:t>
            </a:r>
            <a:r>
              <a:rPr dirty="0"/>
              <a:t> de </a:t>
            </a:r>
            <a:r>
              <a:rPr dirty="0" err="1"/>
              <a:t>marca</a:t>
            </a:r>
            <a:r>
              <a:rPr dirty="0"/>
              <a:t> fuera País Vasco (inferior a CEU/</a:t>
            </a:r>
            <a:r>
              <a:rPr dirty="0" err="1"/>
              <a:t>U.Europea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820" y="-52404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7"/>
                </a:solidFill>
                <a:latin typeface="Georgia"/>
              </a:defRPr>
            </a:pPr>
            <a:r>
              <a:rPr dirty="0" err="1"/>
              <a:t>Evaluación</a:t>
            </a:r>
            <a:r>
              <a:rPr dirty="0"/>
              <a:t> de </a:t>
            </a:r>
            <a:r>
              <a:rPr dirty="0" err="1"/>
              <a:t>Riesgos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536752"/>
            <a:ext cx="4114800" cy="32004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Factor de 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536752"/>
            <a:ext cx="4023360" cy="32004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Estrategia de Mitigación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02512"/>
            <a:ext cx="411480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4823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1. Riesgo Regulatorio &amp; Acreditación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31111"/>
            <a:ext cx="3931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 err="1"/>
              <a:t>Pérdida</a:t>
            </a:r>
            <a:r>
              <a:rPr dirty="0"/>
              <a:t> de </a:t>
            </a:r>
            <a:r>
              <a:rPr dirty="0" err="1"/>
              <a:t>acreditación</a:t>
            </a:r>
            <a:r>
              <a:rPr dirty="0"/>
              <a:t> ANECA o </a:t>
            </a:r>
            <a:r>
              <a:rPr dirty="0" err="1"/>
              <a:t>cambios</a:t>
            </a:r>
            <a:r>
              <a:rPr dirty="0"/>
              <a:t> </a:t>
            </a:r>
            <a:r>
              <a:rPr dirty="0" err="1"/>
              <a:t>regulatorios</a:t>
            </a:r>
            <a:r>
              <a:rPr dirty="0"/>
              <a:t> </a:t>
            </a:r>
            <a:r>
              <a:rPr dirty="0" err="1"/>
              <a:t>adversos</a:t>
            </a:r>
            <a:r>
              <a:rPr dirty="0"/>
              <a:t>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impactar</a:t>
            </a:r>
            <a:r>
              <a:rPr dirty="0"/>
              <a:t> </a:t>
            </a:r>
            <a:r>
              <a:rPr dirty="0" err="1"/>
              <a:t>validez</a:t>
            </a:r>
            <a:r>
              <a:rPr dirty="0"/>
              <a:t> de </a:t>
            </a:r>
            <a:r>
              <a:rPr dirty="0" err="1"/>
              <a:t>títulos</a:t>
            </a:r>
            <a:r>
              <a:rPr dirty="0"/>
              <a:t> y </a:t>
            </a:r>
            <a:r>
              <a:rPr dirty="0" err="1"/>
              <a:t>matrícula</a:t>
            </a:r>
            <a:r>
              <a:rPr dirty="0"/>
              <a:t> </a:t>
            </a:r>
            <a:r>
              <a:rPr dirty="0" err="1"/>
              <a:t>estudiantil</a:t>
            </a:r>
            <a:r>
              <a:rPr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902512"/>
            <a:ext cx="402336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902512"/>
            <a:ext cx="3840480" cy="62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lang="es-ES" dirty="0"/>
              <a:t>Mantener el cumplimiento normativo completo durante la transición</a:t>
            </a:r>
            <a:br>
              <a:rPr lang="es-ES" dirty="0"/>
            </a:br>
            <a:r>
              <a:rPr lang="es-ES" dirty="0"/>
              <a:t>• Compromiso temprano con ANECA (aprobación previa a la privatización)</a:t>
            </a:r>
            <a:br>
              <a:rPr lang="es-ES" dirty="0"/>
            </a:br>
            <a:r>
              <a:rPr lang="es-ES" dirty="0"/>
              <a:t>• Presupuesto de 50.000 € anuales para cumplimiento normativo/aseguramiento de la calidad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57200" y="1570024"/>
            <a:ext cx="4114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15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2. Riesgo de Concentración Geográfica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98624"/>
            <a:ext cx="3931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t>90% de estudiantes del País Vasco. Desaceleración económica regional o declive demográfico podría impactar matrícula.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570024"/>
            <a:ext cx="40233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550116"/>
            <a:ext cx="3840480" cy="62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lang="es-ES" dirty="0"/>
              <a:t>• Lanzar programas online (reduce la dependencia regional)</a:t>
            </a:r>
            <a:br>
              <a:rPr lang="es-ES" dirty="0"/>
            </a:br>
            <a:r>
              <a:rPr lang="es-ES" dirty="0"/>
              <a:t>• Reclutamiento internacional de estudiantes.</a:t>
            </a:r>
            <a:br>
              <a:rPr lang="es-ES" dirty="0"/>
            </a:br>
            <a:r>
              <a:rPr lang="es-ES" dirty="0"/>
              <a:t>• El B2B corporativo diversifica los ingresos más allá de las tasas de matrícula</a:t>
            </a:r>
            <a:br>
              <a:rPr lang="es-ES" dirty="0"/>
            </a:br>
            <a:r>
              <a:rPr lang="es-ES" dirty="0"/>
              <a:t>• Aprovechar la presencia nacional del Grupo para la cartera estudiantil</a:t>
            </a:r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457200" y="2237536"/>
            <a:ext cx="411480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283255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3. Riesgo CAPEX Académico &amp; Tecnología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466136"/>
            <a:ext cx="3931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t>Programas de ingeniería requieren inversión continua en laboratorios, equipamiento. Riesgo de obsolescencia tecnológica en campos STEM de rápido cambio.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237536"/>
            <a:ext cx="402336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283255"/>
            <a:ext cx="3840480" cy="62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/>
              <a:t>• Asset-light strategy: </a:t>
            </a:r>
            <a:r>
              <a:rPr lang="es-ES" dirty="0"/>
              <a:t>Colaborar con la industria para el acceso a laboratorios (instalaciones de Grupo Mondragón)</a:t>
            </a:r>
            <a:br>
              <a:rPr dirty="0"/>
            </a:br>
            <a:r>
              <a:rPr lang="es-ES" dirty="0"/>
              <a:t>• Centrarse en software/simulación por encima de la infraestructura física</a:t>
            </a:r>
            <a:br>
              <a:rPr dirty="0"/>
            </a:br>
            <a:r>
              <a:rPr lang="es-ES" dirty="0"/>
              <a:t>• Las alianzas corporativas proporcionan acceso a tecnología de vanguardia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57200" y="2905048"/>
            <a:ext cx="4114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9507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4. Riesgo de Marca &amp; Reputación (Identidad Cooperativa)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33648"/>
            <a:ext cx="3931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t>Marca Mondragón ligada a valores cooperativos. Privatización podría alienar stakeholders, impactar relaciones con empleadores.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05048"/>
            <a:ext cx="40233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2950768"/>
            <a:ext cx="3840480" cy="62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lang="es-ES" dirty="0"/>
              <a:t>Estrategia comunicativa</a:t>
            </a:r>
            <a:r>
              <a:rPr dirty="0"/>
              <a:t>: </a:t>
            </a:r>
            <a:r>
              <a:rPr lang="es-ES" dirty="0"/>
              <a:t>Enfocar como </a:t>
            </a:r>
            <a:r>
              <a:rPr dirty="0"/>
              <a:t>‘</a:t>
            </a:r>
            <a:r>
              <a:rPr lang="es-ES" dirty="0"/>
              <a:t>Ampliamos capital para continuar con nuestra misión</a:t>
            </a:r>
            <a:r>
              <a:rPr dirty="0"/>
              <a:t>'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Mantener el nombre 'Mondragón' y la afiliación al Grupo.</a:t>
            </a:r>
            <a:br>
              <a:rPr dirty="0"/>
            </a:br>
            <a:r>
              <a:rPr lang="es-ES" dirty="0"/>
              <a:t>• Enfatizar la empleabilidad  por encima de la estructura (forma legal)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457200" y="3572560"/>
            <a:ext cx="411480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6182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5. Competencia Digital &amp; Disrupción Online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801160"/>
            <a:ext cx="3931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t>Competidores online low-cost (Coursera, UNED, bootcamps) podrían erosionar demanda de títulos tradicionales y pricing power.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572560"/>
            <a:ext cx="4023360" cy="66751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595978"/>
            <a:ext cx="3840480" cy="62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lang="es-ES" dirty="0"/>
              <a:t>• Modelo híbrido: lanzar ofertas propias online.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Impulsar la formación practica para potenciar la empleabilidad.</a:t>
            </a:r>
            <a:br>
              <a:rPr dirty="0"/>
            </a:br>
            <a:r>
              <a:rPr dirty="0"/>
              <a:t>• </a:t>
            </a:r>
            <a:r>
              <a:rPr lang="es-ES" dirty="0"/>
              <a:t>Colaboración con empleadores para programas d e practicas remuneradas.</a:t>
            </a:r>
            <a:br>
              <a:rPr dirty="0"/>
            </a:br>
            <a:r>
              <a:rPr lang="es-ES" dirty="0"/>
              <a:t>• Precios competitivos frente a competidores de prestigio (14.500 €)</a:t>
            </a:r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457200" y="4240072"/>
            <a:ext cx="4114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28579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3545"/>
                </a:solidFill>
                <a:latin typeface="Arial"/>
              </a:defRPr>
            </a:pPr>
            <a:r>
              <a:t>6. Velocidad de Ejecución &amp; Transformación Cultural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68672"/>
            <a:ext cx="3931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 err="1"/>
              <a:t>Transición</a:t>
            </a:r>
            <a:r>
              <a:rPr dirty="0"/>
              <a:t> </a:t>
            </a:r>
            <a:r>
              <a:rPr dirty="0" err="1"/>
              <a:t>cooperativa</a:t>
            </a:r>
            <a:r>
              <a:rPr dirty="0"/>
              <a:t> a </a:t>
            </a:r>
            <a:r>
              <a:rPr dirty="0" err="1"/>
              <a:t>privada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cambio</a:t>
            </a:r>
            <a:r>
              <a:rPr dirty="0"/>
              <a:t> cultural. Riesgo de </a:t>
            </a:r>
            <a:r>
              <a:rPr lang="es-ES" dirty="0"/>
              <a:t>salida de </a:t>
            </a:r>
            <a:r>
              <a:rPr dirty="0"/>
              <a:t> </a:t>
            </a:r>
            <a:r>
              <a:rPr dirty="0" err="1"/>
              <a:t>talento</a:t>
            </a:r>
            <a:r>
              <a:rPr dirty="0"/>
              <a:t>, </a:t>
            </a:r>
            <a:r>
              <a:rPr dirty="0" err="1"/>
              <a:t>implementación</a:t>
            </a:r>
            <a:r>
              <a:rPr dirty="0"/>
              <a:t> lenta, </a:t>
            </a:r>
            <a:r>
              <a:rPr dirty="0" err="1"/>
              <a:t>resistencia</a:t>
            </a:r>
            <a:r>
              <a:rPr dirty="0"/>
              <a:t> management.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240072"/>
            <a:ext cx="40233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285792"/>
            <a:ext cx="3840480" cy="48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lang="es-ES" dirty="0"/>
              <a:t>• Contratar a un CEO experimentado en gestión educativa.</a:t>
            </a:r>
          </a:p>
          <a:p>
            <a:pPr>
              <a:lnSpc>
                <a:spcPct val="110000"/>
              </a:lnSpc>
              <a:defRPr sz="800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lang="es-ES" dirty="0"/>
              <a:t>Bonos de retención para profesores clave.</a:t>
            </a:r>
            <a:br>
              <a:rPr dirty="0"/>
            </a:br>
            <a:r>
              <a:rPr dirty="0"/>
              <a:t>• Clear KPIs with monthly board reviews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8733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7"/>
                </a:solidFill>
                <a:latin typeface="Georgia"/>
              </a:defRPr>
            </a:pPr>
            <a:r>
              <a:t>Valoración &amp; Universo de Compradores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53093"/>
            <a:ext cx="8229600" cy="32004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Metodología de Valoración: Entry Price vs Valor Intrínseco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4573"/>
            <a:ext cx="3886200" cy="36576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ENTRY VALUATION (Precio de Transacción)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76053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E67E50"/>
                </a:solidFill>
                <a:latin typeface="Arial"/>
              </a:defRPr>
            </a:pPr>
            <a:r>
              <a:t>Metodología: Múltiplos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76033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Arial"/>
              </a:defRPr>
            </a:pPr>
            <a:r>
              <a:rPr dirty="0"/>
              <a:t>• Comparables (Trading Multiples):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58913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8-9x EBITDA FY2025 → €10.4M - €11.7M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3233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Arial"/>
              </a:defRPr>
            </a:pPr>
            <a:r>
              <a:t>• Precedentes Transaccionales: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6113"/>
            <a:ext cx="34747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 err="1"/>
              <a:t>Ajustado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cooperativa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regional → €9.1M - €13.0M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21275"/>
            <a:ext cx="365760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748113"/>
            <a:ext cx="34747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ENTRY VALUATION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30993"/>
            <a:ext cx="34747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€9M - €12M (midpoint €10.5M)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62481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E67E50"/>
                </a:solidFill>
                <a:latin typeface="Arial"/>
              </a:defRPr>
            </a:pPr>
            <a:r>
              <a:t>Rationale: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45361"/>
            <a:ext cx="36576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Arial"/>
              </a:defRPr>
            </a:pPr>
            <a:r>
              <a:rPr dirty="0" err="1"/>
              <a:t>Descuento</a:t>
            </a:r>
            <a:r>
              <a:rPr dirty="0"/>
              <a:t> -25% a -40% vs sector privado (12-15x) </a:t>
            </a:r>
            <a:r>
              <a:rPr dirty="0" err="1"/>
              <a:t>refleja</a:t>
            </a:r>
            <a:r>
              <a:rPr dirty="0"/>
              <a:t>: </a:t>
            </a:r>
            <a:r>
              <a:rPr dirty="0" err="1"/>
              <a:t>estructura</a:t>
            </a:r>
            <a:r>
              <a:rPr dirty="0"/>
              <a:t> </a:t>
            </a:r>
            <a:r>
              <a:rPr dirty="0" err="1"/>
              <a:t>cooperativa</a:t>
            </a:r>
            <a:r>
              <a:rPr dirty="0"/>
              <a:t>,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moderada</a:t>
            </a:r>
            <a:r>
              <a:rPr dirty="0"/>
              <a:t> (€21.7M revenue vs €100M+ comparables), </a:t>
            </a:r>
            <a:r>
              <a:rPr dirty="0" err="1"/>
              <a:t>concentración</a:t>
            </a:r>
            <a:r>
              <a:rPr dirty="0"/>
              <a:t> regional, 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transformación</a:t>
            </a:r>
            <a:r>
              <a:rPr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064573"/>
            <a:ext cx="3886200" cy="36576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INTRINSIC VALUE (Análisis DCF)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453751"/>
            <a:ext cx="36576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1">
                <a:solidFill>
                  <a:srgbClr val="E67E50"/>
                </a:solidFill>
                <a:latin typeface="Arial"/>
              </a:defRPr>
            </a:pPr>
            <a:r>
              <a:t>Metodología: Discounted Cash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728071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Arial"/>
              </a:defRPr>
            </a:pPr>
            <a:r>
              <a:t>• DCF (WACC 11.88%, g perpetuo 2%):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910951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Enterprise Value: €29.7M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93831"/>
            <a:ext cx="34747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rPr dirty="0"/>
              <a:t>Equity Value: €33.2M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323547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2C3E50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Supuestos</a:t>
            </a:r>
            <a:r>
              <a:rPr dirty="0"/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536163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Arial"/>
              </a:defRPr>
            </a:pPr>
            <a:r>
              <a:rPr dirty="0" err="1"/>
              <a:t>Transformación</a:t>
            </a:r>
            <a:r>
              <a:rPr dirty="0"/>
              <a:t> completa </a:t>
            </a:r>
            <a:r>
              <a:rPr dirty="0" err="1"/>
              <a:t>ejecutada</a:t>
            </a:r>
            <a:r>
              <a:rPr dirty="0"/>
              <a:t> (EBITDA €89k → €5.3M). </a:t>
            </a:r>
            <a:r>
              <a:rPr dirty="0" err="1"/>
              <a:t>Márgenes</a:t>
            </a:r>
            <a:r>
              <a:rPr dirty="0"/>
              <a:t> 17.8% FY2029. </a:t>
            </a:r>
            <a:r>
              <a:rPr dirty="0" err="1"/>
              <a:t>Proyecciones</a:t>
            </a:r>
            <a:r>
              <a:rPr dirty="0"/>
              <a:t> base case </a:t>
            </a:r>
            <a:r>
              <a:rPr dirty="0" err="1"/>
              <a:t>asumen</a:t>
            </a:r>
            <a:r>
              <a:rPr dirty="0"/>
              <a:t> </a:t>
            </a:r>
            <a:r>
              <a:rPr dirty="0" err="1"/>
              <a:t>éxito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3032765"/>
            <a:ext cx="3657600" cy="457200"/>
          </a:xfrm>
          <a:prstGeom prst="rect">
            <a:avLst/>
          </a:prstGeom>
          <a:solidFill>
            <a:srgbClr val="E67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3037301"/>
            <a:ext cx="34747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UPSIDE VS 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20181"/>
            <a:ext cx="347472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 dirty="0"/>
              <a:t>€21M - €24M (+180% to +265%)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529367"/>
            <a:ext cx="36576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E67E50"/>
                </a:solidFill>
                <a:latin typeface="Arial"/>
              </a:defRPr>
            </a:pPr>
            <a:r>
              <a:rPr dirty="0"/>
              <a:t>Investment Thesis: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712247"/>
            <a:ext cx="36576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0">
                <a:solidFill>
                  <a:srgbClr val="2C3E50"/>
                </a:solidFill>
                <a:latin typeface="Arial"/>
              </a:defRPr>
            </a:pPr>
            <a:r>
              <a:rPr dirty="0"/>
              <a:t>El gap entre Entry (€9-12M) y DCF (€33M)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oportunidad</a:t>
            </a:r>
            <a:r>
              <a:rPr dirty="0"/>
              <a:t> de </a:t>
            </a:r>
            <a:r>
              <a:rPr dirty="0" err="1"/>
              <a:t>inversión</a:t>
            </a:r>
            <a:r>
              <a:rPr dirty="0"/>
              <a:t>. </a:t>
            </a:r>
            <a:r>
              <a:rPr dirty="0" err="1"/>
              <a:t>Compramos</a:t>
            </a:r>
            <a:r>
              <a:rPr dirty="0"/>
              <a:t> </a:t>
            </a:r>
            <a:r>
              <a:rPr dirty="0" err="1"/>
              <a:t>cooperativa</a:t>
            </a:r>
            <a:r>
              <a:rPr dirty="0"/>
              <a:t> </a:t>
            </a:r>
            <a:r>
              <a:rPr dirty="0" err="1"/>
              <a:t>ineficiente</a:t>
            </a:r>
            <a:r>
              <a:rPr dirty="0"/>
              <a:t> a </a:t>
            </a:r>
            <a:r>
              <a:rPr dirty="0" err="1"/>
              <a:t>descuento</a:t>
            </a:r>
            <a:r>
              <a:rPr dirty="0"/>
              <a:t>, </a:t>
            </a:r>
            <a:r>
              <a:rPr dirty="0" err="1"/>
              <a:t>transformamos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privatización</a:t>
            </a:r>
            <a:r>
              <a:rPr dirty="0"/>
              <a:t> +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operativas</a:t>
            </a:r>
            <a:r>
              <a:rPr dirty="0"/>
              <a:t>, y </a:t>
            </a:r>
            <a:r>
              <a:rPr dirty="0" err="1"/>
              <a:t>capturamos</a:t>
            </a:r>
            <a:r>
              <a:rPr dirty="0"/>
              <a:t> upside </a:t>
            </a:r>
            <a:r>
              <a:rPr dirty="0" err="1"/>
              <a:t>en</a:t>
            </a:r>
            <a:r>
              <a:rPr dirty="0"/>
              <a:t> exit a </a:t>
            </a:r>
            <a:r>
              <a:rPr dirty="0" err="1"/>
              <a:t>múltiplos</a:t>
            </a:r>
            <a:r>
              <a:rPr dirty="0"/>
              <a:t> sector privado.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068" y="4027084"/>
            <a:ext cx="3886200" cy="228600"/>
          </a:xfrm>
          <a:prstGeom prst="rect">
            <a:avLst/>
          </a:prstGeom>
          <a:solidFill>
            <a:srgbClr val="1B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Compradores Potenciales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508" y="4301404"/>
            <a:ext cx="18288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1">
                <a:solidFill>
                  <a:srgbClr val="E67E50"/>
                </a:solidFill>
                <a:latin typeface="Arial"/>
              </a:defRPr>
            </a:pPr>
            <a:r>
              <a:t>PE Buyers: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508" y="4438564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00" b="0">
                <a:solidFill>
                  <a:srgbClr val="2C3E50"/>
                </a:solidFill>
                <a:latin typeface="Arial"/>
              </a:defRPr>
            </a:pPr>
            <a:r>
              <a:t>Permira, EQT, Apax, Cinven, CVC, Bridgepoint, MCH, Nazca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3748" y="4301404"/>
            <a:ext cx="18288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00" b="1">
                <a:solidFill>
                  <a:srgbClr val="E67E50"/>
                </a:solidFill>
                <a:latin typeface="Arial"/>
              </a:defRPr>
            </a:pPr>
            <a:r>
              <a:t>Estratégicos: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3748" y="4438564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700" b="0">
                <a:solidFill>
                  <a:srgbClr val="2C3E50"/>
                </a:solidFill>
                <a:latin typeface="Arial"/>
              </a:defRPr>
            </a:pPr>
            <a:r>
              <a:t>CEU, U. Europea, Proeduca, Ilumno, Galileo, Studialis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1416</Words>
  <Application>Microsoft Office PowerPoint</Application>
  <PresentationFormat>Presentación en pantalla (16:9)</PresentationFormat>
  <Paragraphs>154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Aitor BERNAL</dc:creator>
  <cp:keywords/>
  <dc:description>generated using python-pptx</dc:description>
  <cp:lastModifiedBy>Aitor BERNAL</cp:lastModifiedBy>
  <cp:revision>6</cp:revision>
  <dcterms:created xsi:type="dcterms:W3CDTF">2013-01-27T09:14:16Z</dcterms:created>
  <dcterms:modified xsi:type="dcterms:W3CDTF">2025-11-28T22:14:11Z</dcterms:modified>
  <cp:category/>
</cp:coreProperties>
</file>